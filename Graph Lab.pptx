
<file path=[Content_Types].xml><?xml version="1.0" encoding="utf-8"?>
<Types xmlns="http://schemas.openxmlformats.org/package/2006/content-types">
  <Default Extension="doc" ContentType="application/msword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1" r:id="rId6"/>
    <p:sldId id="262" r:id="rId7"/>
    <p:sldId id="263" r:id="rId8"/>
    <p:sldId id="264" r:id="rId9"/>
    <p:sldId id="265" r:id="rId10"/>
  </p:sldIdLst>
  <p:sldSz cx="6858000" cy="9144000" type="screen4x3"/>
  <p:notesSz cx="68580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120" autoAdjust="0"/>
    <p:restoredTop sz="94660"/>
  </p:normalViewPr>
  <p:slideViewPr>
    <p:cSldViewPr>
      <p:cViewPr>
        <p:scale>
          <a:sx n="100" d="100"/>
          <a:sy n="100" d="100"/>
        </p:scale>
        <p:origin x="3240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840038"/>
            <a:ext cx="5829300" cy="19605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125A82B-2CCF-464E-91C1-C2331CDBA5A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4E3288B-9524-4753-B7CB-1A7EABF3DD0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31CDB50-91A3-46F3-89B9-1625B4AD177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4B70BB-8141-42C8-8C99-8154A0B694C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91694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A352CC2-7A15-453A-8A90-1F38E659B28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FAF9D89-D6A0-44FB-B1F4-25AA5E7B146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B0E09AB-3569-46C7-970E-7400B31AEDD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C68D6E-CE00-4CFF-97B8-35784329E31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91529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338" y="5875338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338" y="3875088"/>
            <a:ext cx="5829300" cy="200025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BAA8AC3-8641-4349-901B-71EBF912125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70D7D54-C431-45F7-A332-5F0286C9B70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D5FC0BE-BDCC-4B7C-9C5B-908B5816255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6FCEB6-4B09-47DD-9333-5A2E73C4767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97556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4350" y="2641600"/>
            <a:ext cx="283845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05200" y="2641600"/>
            <a:ext cx="283845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3ED5431-C216-478F-AD06-B324F4216E1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73BD0F-AEFB-4A07-A2F0-D4229A319F5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70E720-1A03-4226-9F7D-49154454FF6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17FEC9-1941-4731-991F-A7E988AAB93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53711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6713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046288"/>
            <a:ext cx="3030538" cy="8540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900363"/>
            <a:ext cx="3030538" cy="5267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4563" y="2046288"/>
            <a:ext cx="3030537" cy="8540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4563" y="2900363"/>
            <a:ext cx="3030537" cy="5267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F9722A30-726A-4684-899A-C9BAAEFAA44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3E954E49-D61A-48C7-B3E1-87D24A550CF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DAD96845-8722-40D1-B7B6-19DA62CC0B0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8A5AFD-52C1-4DA4-AA98-B08678FB76F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38276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0B8C6C15-FD56-4ABA-AB12-BAA70ACDFB5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D50E1FB-2178-4660-859C-59A4AD37360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AA6322A-92C9-446C-930A-0698A19F92D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9749A5-D26B-4DD9-88B7-4BB0D71C6EB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81183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C26BD151-6E80-4919-A6C6-E85E8962B2B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0EDE622F-11F0-46C9-85F2-95727BDB710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2738D21C-6B11-469E-BF8F-83948469C37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676B22-A5F5-4030-927E-C4CA6A17B41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9025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3538"/>
            <a:ext cx="2255838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8" y="363538"/>
            <a:ext cx="3833812" cy="78041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912938"/>
            <a:ext cx="2255838" cy="62547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B731B5-3765-429E-872A-8668632123D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07C996-8DF7-4E2F-AF23-8DAE146FF66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165721-1FB1-4FD2-A3E1-477148721D0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C26379-5844-4A64-9BA4-F7716D322D5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15641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613" y="6400800"/>
            <a:ext cx="4114800" cy="7556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613" y="81756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613" y="7156450"/>
            <a:ext cx="4114800" cy="10731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4575CE-128F-476E-9884-74481803822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8A3289-721A-48D4-BD33-CB44F14573E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19935AD-6A4E-4742-A5EC-70E337C65E5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170698-8585-408D-A50A-82C6BAF88B5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41945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F1E756A-6CC2-49FD-B2C6-94BBA2E28D7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97474D1-7536-4F1B-9CB0-D3EB9F13FE8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C534539-C415-4FB2-BCF4-AA9959083DD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F15850-7A6B-4577-8E5E-4628090CA04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05756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886325" y="812800"/>
            <a:ext cx="1457325" cy="7315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4350" y="812800"/>
            <a:ext cx="4219575" cy="7315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BC7C570-8D38-46A4-A221-68C08F27590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ADE6BD3-ADB3-4002-8C56-DD9C0767C1E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85F287D-3029-4F09-A12C-3077245F7E1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8AE627-F7F6-4910-8AF8-EDFD7EF370D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63416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BC1576A-CAC6-4108-AC52-7CAE92E892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14350" y="812800"/>
            <a:ext cx="58293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7FFCB32-D8F0-40DD-8DDD-4FE31F5DEF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14350" y="2641600"/>
            <a:ext cx="5829300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5817BB7-B3C8-41CB-87F5-8A89D275B32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514350" y="8331200"/>
            <a:ext cx="142875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B305F237-D2AD-46AB-9089-261059316DA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343150" y="8331200"/>
            <a:ext cx="21717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8A19BE72-D15C-4880-BADE-7EDEFB1FE98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914900" y="8331200"/>
            <a:ext cx="142875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807ACE82-7722-4325-9638-353FC5DF317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Microsoft_Word_97_-_2003_Document.doc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50" name="Object 2">
            <a:extLst>
              <a:ext uri="{FF2B5EF4-FFF2-40B4-BE49-F238E27FC236}">
                <a16:creationId xmlns:a16="http://schemas.microsoft.com/office/drawing/2014/main" id="{0FC2EDEB-CD6D-479E-AC2A-6579F6E4CF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9074994"/>
              </p:ext>
            </p:extLst>
          </p:nvPr>
        </p:nvGraphicFramePr>
        <p:xfrm>
          <a:off x="495300" y="5514975"/>
          <a:ext cx="5810250" cy="334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485703" imgH="3164477" progId="Word.Document.8">
                  <p:embed/>
                </p:oleObj>
              </mc:Choice>
              <mc:Fallback>
                <p:oleObj name="Document" r:id="rId2" imgW="5485703" imgH="3164477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" y="5514975"/>
                        <a:ext cx="5810250" cy="3343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1" name="Text Box 3">
            <a:extLst>
              <a:ext uri="{FF2B5EF4-FFF2-40B4-BE49-F238E27FC236}">
                <a16:creationId xmlns:a16="http://schemas.microsoft.com/office/drawing/2014/main" id="{6F9A29ED-552A-4B04-9BFF-78324234E8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9075" y="152400"/>
            <a:ext cx="955675" cy="73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400"/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400"/>
              <a:t>CMSC204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400"/>
              <a:t>Kartchner</a:t>
            </a:r>
          </a:p>
        </p:txBody>
      </p:sp>
      <p:sp>
        <p:nvSpPr>
          <p:cNvPr id="2054" name="Rectangle 7">
            <a:extLst>
              <a:ext uri="{FF2B5EF4-FFF2-40B4-BE49-F238E27FC236}">
                <a16:creationId xmlns:a16="http://schemas.microsoft.com/office/drawing/2014/main" id="{CD9F0903-62EA-42BD-8AD2-C0B50A702B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369" y="959327"/>
            <a:ext cx="6291262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V(</a:t>
            </a:r>
            <a:r>
              <a:rPr lang="en-US" altLang="en-US" sz="1200" dirty="0" err="1"/>
              <a:t>StateGraph</a:t>
            </a:r>
            <a:r>
              <a:rPr lang="en-US" altLang="en-US" sz="1200" dirty="0"/>
              <a:t>) = {Oregon, Alaska, Texas, Hawaii, Vermont, </a:t>
            </a:r>
            <a:r>
              <a:rPr lang="en-US" altLang="en-US" sz="1200" dirty="0" err="1"/>
              <a:t>NewYork</a:t>
            </a:r>
            <a:r>
              <a:rPr lang="en-US" altLang="en-US" sz="1200" dirty="0"/>
              <a:t>, California}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E(</a:t>
            </a:r>
            <a:r>
              <a:rPr lang="en-US" altLang="en-US" sz="1200" dirty="0" err="1"/>
              <a:t>StateGraph</a:t>
            </a:r>
            <a:r>
              <a:rPr lang="en-US" altLang="en-US" sz="1200" dirty="0"/>
              <a:t>) = {(Alaska, Oregon), (Hawaii, Alaska), (Hawaii, Texas), (Texas, Hawaii), (Hawaii, 	California), (Hawaii, New York), (Texas, Vermont), (Vermont, California), 	(Vermont, Alaska)}</a:t>
            </a:r>
          </a:p>
        </p:txBody>
      </p:sp>
      <p:sp>
        <p:nvSpPr>
          <p:cNvPr id="2055" name="Rectangle 8">
            <a:extLst>
              <a:ext uri="{FF2B5EF4-FFF2-40B4-BE49-F238E27FC236}">
                <a16:creationId xmlns:a16="http://schemas.microsoft.com/office/drawing/2014/main" id="{23AE5A62-58FC-45BC-8E66-2A3E942B3F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900" y="3671647"/>
            <a:ext cx="5791200" cy="12954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2056" name="Text Box 9">
            <a:extLst>
              <a:ext uri="{FF2B5EF4-FFF2-40B4-BE49-F238E27FC236}">
                <a16:creationId xmlns:a16="http://schemas.microsoft.com/office/drawing/2014/main" id="{DF9A9F0D-E17B-4441-A5AB-ABE3472E3D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849" y="1721010"/>
            <a:ext cx="16637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1.  Draw the </a:t>
            </a:r>
            <a:r>
              <a:rPr lang="en-US" altLang="en-US" sz="1200" dirty="0" err="1"/>
              <a:t>StateGraph</a:t>
            </a:r>
            <a:endParaRPr lang="en-US" altLang="en-US" sz="120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166A93B-002F-7755-0260-65159D150E80}"/>
              </a:ext>
            </a:extLst>
          </p:cNvPr>
          <p:cNvSpPr/>
          <p:nvPr/>
        </p:nvSpPr>
        <p:spPr bwMode="auto">
          <a:xfrm>
            <a:off x="2526029" y="2915921"/>
            <a:ext cx="701675" cy="27463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Oregon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5D542D0-48A7-1EEA-DFD4-E701DE79DEA6}"/>
              </a:ext>
            </a:extLst>
          </p:cNvPr>
          <p:cNvSpPr/>
          <p:nvPr/>
        </p:nvSpPr>
        <p:spPr bwMode="auto">
          <a:xfrm>
            <a:off x="995679" y="2359422"/>
            <a:ext cx="701675" cy="27463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Alaska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66423CD-600B-CA9A-C2E0-E3A8B80FD507}"/>
              </a:ext>
            </a:extLst>
          </p:cNvPr>
          <p:cNvSpPr/>
          <p:nvPr/>
        </p:nvSpPr>
        <p:spPr bwMode="auto">
          <a:xfrm>
            <a:off x="4114800" y="4572000"/>
            <a:ext cx="701675" cy="27463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Hawaii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048F7E2-8461-5ED4-04C6-22F9A264119C}"/>
              </a:ext>
            </a:extLst>
          </p:cNvPr>
          <p:cNvSpPr/>
          <p:nvPr/>
        </p:nvSpPr>
        <p:spPr bwMode="auto">
          <a:xfrm>
            <a:off x="4495800" y="2808526"/>
            <a:ext cx="701675" cy="27463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New York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7DF30C0-BB4C-D041-0CBD-FFF40B3183F1}"/>
              </a:ext>
            </a:extLst>
          </p:cNvPr>
          <p:cNvSpPr/>
          <p:nvPr/>
        </p:nvSpPr>
        <p:spPr bwMode="auto">
          <a:xfrm>
            <a:off x="2135664" y="4256483"/>
            <a:ext cx="701675" cy="27463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Texas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E3ACA1E-C749-142C-6B09-CEC0CC56FB73}"/>
              </a:ext>
            </a:extLst>
          </p:cNvPr>
          <p:cNvSpPr/>
          <p:nvPr/>
        </p:nvSpPr>
        <p:spPr bwMode="auto">
          <a:xfrm>
            <a:off x="3301523" y="2278697"/>
            <a:ext cx="749300" cy="27463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Vermont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C3E8F70-24D6-049B-B37E-867663FE4B4D}"/>
              </a:ext>
            </a:extLst>
          </p:cNvPr>
          <p:cNvCxnSpPr>
            <a:stCxn id="3" idx="3"/>
            <a:endCxn id="2" idx="1"/>
          </p:cNvCxnSpPr>
          <p:nvPr/>
        </p:nvCxnSpPr>
        <p:spPr bwMode="auto">
          <a:xfrm>
            <a:off x="1697354" y="2496741"/>
            <a:ext cx="828675" cy="556499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D904E20-94CC-554E-F9EA-DC2D41A5E832}"/>
              </a:ext>
            </a:extLst>
          </p:cNvPr>
          <p:cNvCxnSpPr>
            <a:stCxn id="4" idx="0"/>
            <a:endCxn id="3" idx="2"/>
          </p:cNvCxnSpPr>
          <p:nvPr/>
        </p:nvCxnSpPr>
        <p:spPr bwMode="auto">
          <a:xfrm flipH="1" flipV="1">
            <a:off x="1346517" y="2634059"/>
            <a:ext cx="3119121" cy="1937941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B9B637A-03EE-A37B-1C6B-2E4595B07102}"/>
              </a:ext>
            </a:extLst>
          </p:cNvPr>
          <p:cNvCxnSpPr>
            <a:cxnSpLocks/>
            <a:stCxn id="4" idx="1"/>
            <a:endCxn id="6" idx="3"/>
          </p:cNvCxnSpPr>
          <p:nvPr/>
        </p:nvCxnSpPr>
        <p:spPr bwMode="auto">
          <a:xfrm flipH="1" flipV="1">
            <a:off x="2837339" y="4393802"/>
            <a:ext cx="1277461" cy="315517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14DA449-05C1-96B6-C9B9-C21591F45320}"/>
              </a:ext>
            </a:extLst>
          </p:cNvPr>
          <p:cNvCxnSpPr>
            <a:cxnSpLocks/>
            <a:stCxn id="6" idx="2"/>
            <a:endCxn id="4" idx="1"/>
          </p:cNvCxnSpPr>
          <p:nvPr/>
        </p:nvCxnSpPr>
        <p:spPr bwMode="auto">
          <a:xfrm>
            <a:off x="2486502" y="4531120"/>
            <a:ext cx="1628298" cy="178199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C423A5D-9082-D764-8B7A-0A620535315B}"/>
              </a:ext>
            </a:extLst>
          </p:cNvPr>
          <p:cNvCxnSpPr>
            <a:cxnSpLocks/>
            <a:stCxn id="4" idx="0"/>
            <a:endCxn id="23" idx="3"/>
          </p:cNvCxnSpPr>
          <p:nvPr/>
        </p:nvCxnSpPr>
        <p:spPr bwMode="auto">
          <a:xfrm flipH="1" flipV="1">
            <a:off x="1524000" y="3572589"/>
            <a:ext cx="2941638" cy="999411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20D51FB-561F-1C34-C35D-E99A5EB74102}"/>
              </a:ext>
            </a:extLst>
          </p:cNvPr>
          <p:cNvSpPr/>
          <p:nvPr/>
        </p:nvSpPr>
        <p:spPr bwMode="auto">
          <a:xfrm>
            <a:off x="609600" y="3435270"/>
            <a:ext cx="914400" cy="27463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California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ED647A1-E237-CF76-22F0-86B279D818C9}"/>
              </a:ext>
            </a:extLst>
          </p:cNvPr>
          <p:cNvCxnSpPr>
            <a:cxnSpLocks/>
            <a:stCxn id="4" idx="0"/>
            <a:endCxn id="5" idx="2"/>
          </p:cNvCxnSpPr>
          <p:nvPr/>
        </p:nvCxnSpPr>
        <p:spPr bwMode="auto">
          <a:xfrm flipV="1">
            <a:off x="4465638" y="3083163"/>
            <a:ext cx="381000" cy="1488837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BE90DB2-B99C-8D2F-9E89-C58D5A62CA8A}"/>
              </a:ext>
            </a:extLst>
          </p:cNvPr>
          <p:cNvCxnSpPr>
            <a:cxnSpLocks/>
            <a:stCxn id="6" idx="0"/>
            <a:endCxn id="7" idx="2"/>
          </p:cNvCxnSpPr>
          <p:nvPr/>
        </p:nvCxnSpPr>
        <p:spPr bwMode="auto">
          <a:xfrm flipV="1">
            <a:off x="2486502" y="2553334"/>
            <a:ext cx="1189671" cy="1703149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6681C1A-E75C-EB61-49FD-292870DAA06D}"/>
              </a:ext>
            </a:extLst>
          </p:cNvPr>
          <p:cNvCxnSpPr>
            <a:stCxn id="7" idx="1"/>
            <a:endCxn id="23" idx="0"/>
          </p:cNvCxnSpPr>
          <p:nvPr/>
        </p:nvCxnSpPr>
        <p:spPr bwMode="auto">
          <a:xfrm flipH="1">
            <a:off x="1066800" y="2416016"/>
            <a:ext cx="2234723" cy="1019254"/>
          </a:xfrm>
          <a:prstGeom prst="straightConnector1">
            <a:avLst/>
          </a:prstGeom>
          <a:ln>
            <a:solidFill>
              <a:srgbClr val="FFC000"/>
            </a:solidFill>
            <a:headEnd type="none" w="med" len="med"/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127A789-921D-2EE0-A5AF-5561BF827643}"/>
              </a:ext>
            </a:extLst>
          </p:cNvPr>
          <p:cNvCxnSpPr>
            <a:cxnSpLocks/>
            <a:stCxn id="7" idx="1"/>
            <a:endCxn id="3" idx="3"/>
          </p:cNvCxnSpPr>
          <p:nvPr/>
        </p:nvCxnSpPr>
        <p:spPr bwMode="auto">
          <a:xfrm flipH="1">
            <a:off x="1697354" y="2416016"/>
            <a:ext cx="1604169" cy="80725"/>
          </a:xfrm>
          <a:prstGeom prst="straightConnector1">
            <a:avLst/>
          </a:prstGeom>
          <a:ln>
            <a:solidFill>
              <a:srgbClr val="FFC000"/>
            </a:solidFill>
            <a:headEnd type="none" w="med" len="med"/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>
            <a:extLst>
              <a:ext uri="{FF2B5EF4-FFF2-40B4-BE49-F238E27FC236}">
                <a16:creationId xmlns:a16="http://schemas.microsoft.com/office/drawing/2014/main" id="{C129A688-1F3C-4C9F-9AC5-19802C32F7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925" y="5446713"/>
            <a:ext cx="32178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3.   b.   Show the adjacency lists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            that would describe the edges in the graph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3F1D4401-FBEF-43F9-BEE5-1B122142E7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599" y="6124158"/>
            <a:ext cx="4191001" cy="248644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73641C4-B2C2-437B-AAA3-9677860519ED}"/>
              </a:ext>
            </a:extLst>
          </p:cNvPr>
          <p:cNvGrpSpPr/>
          <p:nvPr/>
        </p:nvGrpSpPr>
        <p:grpSpPr>
          <a:xfrm>
            <a:off x="914400" y="1447800"/>
            <a:ext cx="5486400" cy="2590800"/>
            <a:chOff x="381000" y="6248400"/>
            <a:chExt cx="5486400" cy="2590800"/>
          </a:xfrm>
        </p:grpSpPr>
        <p:sp>
          <p:nvSpPr>
            <p:cNvPr id="8" name="Rectangle 4">
              <a:extLst>
                <a:ext uri="{FF2B5EF4-FFF2-40B4-BE49-F238E27FC236}">
                  <a16:creationId xmlns:a16="http://schemas.microsoft.com/office/drawing/2014/main" id="{150515A3-7AEC-4F11-96B7-7933E5964D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" y="6553200"/>
              <a:ext cx="1143000" cy="2286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9" name="Rectangle 5">
              <a:extLst>
                <a:ext uri="{FF2B5EF4-FFF2-40B4-BE49-F238E27FC236}">
                  <a16:creationId xmlns:a16="http://schemas.microsoft.com/office/drawing/2014/main" id="{AC614A04-AAA4-4C45-9079-2C377ECCE7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5000" y="6477000"/>
              <a:ext cx="3962400" cy="2362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10" name="Text Box 10">
              <a:extLst>
                <a:ext uri="{FF2B5EF4-FFF2-40B4-BE49-F238E27FC236}">
                  <a16:creationId xmlns:a16="http://schemas.microsoft.com/office/drawing/2014/main" id="{BCC31319-0CFB-4318-B56D-38F7954388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9600" y="6248400"/>
              <a:ext cx="549275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dirty="0"/>
                <a:t>States</a:t>
              </a: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E4B944C5-4159-45AC-A452-4E3D1B0B311C}"/>
              </a:ext>
            </a:extLst>
          </p:cNvPr>
          <p:cNvSpPr/>
          <p:nvPr/>
        </p:nvSpPr>
        <p:spPr>
          <a:xfrm>
            <a:off x="457200" y="304800"/>
            <a:ext cx="5334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 startAt="3"/>
              <a:tabLst>
                <a:tab pos="228600" algn="l"/>
              </a:tabLst>
            </a:pPr>
            <a:r>
              <a:rPr lang="en-US" sz="1200" dirty="0">
                <a:ea typeface="Times New Roman" panose="02020603050405020304" pitchFamily="18" charset="0"/>
              </a:rPr>
              <a:t>a.  Show the adjacency matrix that would describe the edges in the graph. Store the vertices in alphabetical order</a:t>
            </a:r>
            <a:endParaRPr lang="en-US" sz="1000" dirty="0">
              <a:ea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B41098-86FF-373D-F9CA-26BAA2E9A70E}"/>
              </a:ext>
            </a:extLst>
          </p:cNvPr>
          <p:cNvSpPr txBox="1"/>
          <p:nvPr/>
        </p:nvSpPr>
        <p:spPr>
          <a:xfrm>
            <a:off x="1028700" y="1838325"/>
            <a:ext cx="876300" cy="1998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/>
              <a:t>Alaska</a:t>
            </a:r>
          </a:p>
          <a:p>
            <a:pPr>
              <a:lnSpc>
                <a:spcPct val="150000"/>
              </a:lnSpc>
            </a:pPr>
            <a:r>
              <a:rPr lang="en-US" sz="1200" dirty="0"/>
              <a:t>California</a:t>
            </a:r>
          </a:p>
          <a:p>
            <a:pPr>
              <a:lnSpc>
                <a:spcPct val="150000"/>
              </a:lnSpc>
            </a:pPr>
            <a:r>
              <a:rPr lang="en-US" sz="1200" dirty="0"/>
              <a:t>Hawaii</a:t>
            </a:r>
          </a:p>
          <a:p>
            <a:pPr>
              <a:lnSpc>
                <a:spcPct val="150000"/>
              </a:lnSpc>
            </a:pPr>
            <a:r>
              <a:rPr lang="en-US" sz="1200" dirty="0"/>
              <a:t>New York</a:t>
            </a:r>
          </a:p>
          <a:p>
            <a:pPr>
              <a:lnSpc>
                <a:spcPct val="150000"/>
              </a:lnSpc>
            </a:pPr>
            <a:r>
              <a:rPr lang="en-US" sz="1200" dirty="0"/>
              <a:t>Oregon</a:t>
            </a:r>
          </a:p>
          <a:p>
            <a:pPr>
              <a:lnSpc>
                <a:spcPct val="150000"/>
              </a:lnSpc>
            </a:pPr>
            <a:r>
              <a:rPr lang="en-US" sz="1200" dirty="0"/>
              <a:t>Texas</a:t>
            </a:r>
          </a:p>
          <a:p>
            <a:pPr>
              <a:lnSpc>
                <a:spcPct val="150000"/>
              </a:lnSpc>
            </a:pPr>
            <a:r>
              <a:rPr lang="en-US" sz="1200" dirty="0"/>
              <a:t>Vermont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866BBD-79E8-2989-79D2-0BAE4B73FE81}"/>
              </a:ext>
            </a:extLst>
          </p:cNvPr>
          <p:cNvSpPr txBox="1"/>
          <p:nvPr/>
        </p:nvSpPr>
        <p:spPr>
          <a:xfrm>
            <a:off x="2438400" y="1412224"/>
            <a:ext cx="895350" cy="295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000" dirty="0"/>
              <a:t>Alaska</a:t>
            </a:r>
            <a:endParaRPr lang="en-US" sz="1200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65C9942-FD04-AC88-F998-DA505081DA8E}"/>
              </a:ext>
            </a:extLst>
          </p:cNvPr>
          <p:cNvCxnSpPr/>
          <p:nvPr/>
        </p:nvCxnSpPr>
        <p:spPr bwMode="auto">
          <a:xfrm>
            <a:off x="2971800" y="1676400"/>
            <a:ext cx="0" cy="23622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D45D1A4-8B03-D198-033D-290C7A527BD8}"/>
              </a:ext>
            </a:extLst>
          </p:cNvPr>
          <p:cNvCxnSpPr/>
          <p:nvPr/>
        </p:nvCxnSpPr>
        <p:spPr bwMode="auto">
          <a:xfrm>
            <a:off x="3581400" y="1676400"/>
            <a:ext cx="0" cy="23622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E914FB2-9D81-AF4A-72EE-4DB0D2C674AC}"/>
              </a:ext>
            </a:extLst>
          </p:cNvPr>
          <p:cNvCxnSpPr/>
          <p:nvPr/>
        </p:nvCxnSpPr>
        <p:spPr bwMode="auto">
          <a:xfrm>
            <a:off x="4191000" y="1676400"/>
            <a:ext cx="0" cy="23622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889E729-A56D-B80A-4CB1-EF6347FF9864}"/>
              </a:ext>
            </a:extLst>
          </p:cNvPr>
          <p:cNvCxnSpPr/>
          <p:nvPr/>
        </p:nvCxnSpPr>
        <p:spPr bwMode="auto">
          <a:xfrm>
            <a:off x="4800600" y="1676400"/>
            <a:ext cx="0" cy="23622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A4C8A11-1631-E805-7829-BEB8968076B0}"/>
              </a:ext>
            </a:extLst>
          </p:cNvPr>
          <p:cNvCxnSpPr/>
          <p:nvPr/>
        </p:nvCxnSpPr>
        <p:spPr bwMode="auto">
          <a:xfrm>
            <a:off x="5334000" y="1676400"/>
            <a:ext cx="0" cy="23622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D0D1089-6BA9-68E7-F615-C539FE667467}"/>
              </a:ext>
            </a:extLst>
          </p:cNvPr>
          <p:cNvCxnSpPr/>
          <p:nvPr/>
        </p:nvCxnSpPr>
        <p:spPr bwMode="auto">
          <a:xfrm>
            <a:off x="5867400" y="1676400"/>
            <a:ext cx="0" cy="23622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BB71E773-5C02-6203-2B31-942C642A0635}"/>
              </a:ext>
            </a:extLst>
          </p:cNvPr>
          <p:cNvSpPr txBox="1"/>
          <p:nvPr/>
        </p:nvSpPr>
        <p:spPr>
          <a:xfrm>
            <a:off x="2914650" y="1405477"/>
            <a:ext cx="895350" cy="295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000" dirty="0"/>
              <a:t>California</a:t>
            </a:r>
            <a:endParaRPr lang="en-US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9DD3B2D-5621-3C03-F578-38E343BA94BD}"/>
              </a:ext>
            </a:extLst>
          </p:cNvPr>
          <p:cNvSpPr txBox="1"/>
          <p:nvPr/>
        </p:nvSpPr>
        <p:spPr>
          <a:xfrm>
            <a:off x="3581400" y="1410190"/>
            <a:ext cx="895350" cy="31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050" dirty="0"/>
              <a:t>Hawaii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48A81D9-AF34-53EB-9065-4B92A61766F2}"/>
              </a:ext>
            </a:extLst>
          </p:cNvPr>
          <p:cNvSpPr txBox="1"/>
          <p:nvPr/>
        </p:nvSpPr>
        <p:spPr>
          <a:xfrm>
            <a:off x="4146549" y="1406156"/>
            <a:ext cx="895350" cy="295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000" dirty="0"/>
              <a:t>New York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BC433CE-8698-62F1-8094-66618B225959}"/>
              </a:ext>
            </a:extLst>
          </p:cNvPr>
          <p:cNvSpPr txBox="1"/>
          <p:nvPr/>
        </p:nvSpPr>
        <p:spPr>
          <a:xfrm>
            <a:off x="4800600" y="1395301"/>
            <a:ext cx="895350" cy="295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000" dirty="0"/>
              <a:t>Oregon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7DBDA79-9C63-DFFD-FB2E-1E44176FF00F}"/>
              </a:ext>
            </a:extLst>
          </p:cNvPr>
          <p:cNvSpPr txBox="1"/>
          <p:nvPr/>
        </p:nvSpPr>
        <p:spPr>
          <a:xfrm>
            <a:off x="5340349" y="1405874"/>
            <a:ext cx="895350" cy="295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000" dirty="0"/>
              <a:t>Texas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7EE9A58-83AC-F42A-BF3A-3DBF0A07D3EF}"/>
              </a:ext>
            </a:extLst>
          </p:cNvPr>
          <p:cNvSpPr txBox="1"/>
          <p:nvPr/>
        </p:nvSpPr>
        <p:spPr>
          <a:xfrm>
            <a:off x="5822950" y="1407604"/>
            <a:ext cx="895350" cy="295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000" dirty="0"/>
              <a:t>Vermont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CE0310E-04FB-5794-3631-D17CC5F0B7CC}"/>
              </a:ext>
            </a:extLst>
          </p:cNvPr>
          <p:cNvSpPr txBox="1"/>
          <p:nvPr/>
        </p:nvSpPr>
        <p:spPr>
          <a:xfrm>
            <a:off x="2492382" y="1722438"/>
            <a:ext cx="40735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0            0            0           0           1           0         0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2A7D451-9293-BE6A-3083-1872C1B2A555}"/>
              </a:ext>
            </a:extLst>
          </p:cNvPr>
          <p:cNvSpPr txBox="1"/>
          <p:nvPr/>
        </p:nvSpPr>
        <p:spPr>
          <a:xfrm>
            <a:off x="2492382" y="2077422"/>
            <a:ext cx="40735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0            0            0           0           0           0         0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1ED1A04-A5BD-FDD9-3C6A-A6AF486DDC46}"/>
              </a:ext>
            </a:extLst>
          </p:cNvPr>
          <p:cNvSpPr txBox="1"/>
          <p:nvPr/>
        </p:nvSpPr>
        <p:spPr>
          <a:xfrm>
            <a:off x="2492382" y="2378900"/>
            <a:ext cx="40735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1            1            1           1           0           1         0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8F24887-D1C5-710B-669F-F7A69D785062}"/>
              </a:ext>
            </a:extLst>
          </p:cNvPr>
          <p:cNvSpPr txBox="1"/>
          <p:nvPr/>
        </p:nvSpPr>
        <p:spPr>
          <a:xfrm>
            <a:off x="2492382" y="2676437"/>
            <a:ext cx="40735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0            0            0           0           0           0         0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9AEB597-24CA-B21E-246D-62E96219B707}"/>
              </a:ext>
            </a:extLst>
          </p:cNvPr>
          <p:cNvSpPr txBox="1"/>
          <p:nvPr/>
        </p:nvSpPr>
        <p:spPr>
          <a:xfrm>
            <a:off x="2492382" y="2961978"/>
            <a:ext cx="40735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0            0            0           0           0           0         0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6016C40-4456-A20C-4A03-49BF621E863A}"/>
              </a:ext>
            </a:extLst>
          </p:cNvPr>
          <p:cNvSpPr txBox="1"/>
          <p:nvPr/>
        </p:nvSpPr>
        <p:spPr>
          <a:xfrm>
            <a:off x="2492382" y="3243077"/>
            <a:ext cx="40735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0            0            1           0           0           0         1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FAFB5D1-7852-8377-1506-D668604D0FC4}"/>
              </a:ext>
            </a:extLst>
          </p:cNvPr>
          <p:cNvSpPr txBox="1"/>
          <p:nvPr/>
        </p:nvSpPr>
        <p:spPr>
          <a:xfrm>
            <a:off x="2486033" y="3545056"/>
            <a:ext cx="40735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1            1            0           0           0           0         0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0258E56-9AB1-C133-CE90-1C30B940A39C}"/>
              </a:ext>
            </a:extLst>
          </p:cNvPr>
          <p:cNvSpPr txBox="1"/>
          <p:nvPr/>
        </p:nvSpPr>
        <p:spPr>
          <a:xfrm>
            <a:off x="1160628" y="6290853"/>
            <a:ext cx="3487572" cy="19979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/>
              <a:t>Alaska </a:t>
            </a:r>
            <a:r>
              <a:rPr lang="en-US" sz="1200" dirty="0">
                <a:sym typeface="Wingdings" panose="05000000000000000000" pitchFamily="2" charset="2"/>
              </a:rPr>
              <a:t> {Oregon}</a:t>
            </a:r>
            <a:endParaRPr lang="en-US" sz="1200" dirty="0"/>
          </a:p>
          <a:p>
            <a:pPr>
              <a:lnSpc>
                <a:spcPct val="150000"/>
              </a:lnSpc>
            </a:pPr>
            <a:r>
              <a:rPr lang="en-US" sz="1200" dirty="0"/>
              <a:t>California </a:t>
            </a:r>
            <a:r>
              <a:rPr lang="en-US" sz="1200" dirty="0">
                <a:sym typeface="Wingdings" panose="05000000000000000000" pitchFamily="2" charset="2"/>
              </a:rPr>
              <a:t> {}</a:t>
            </a:r>
            <a:endParaRPr lang="en-US" sz="1200" dirty="0"/>
          </a:p>
          <a:p>
            <a:pPr>
              <a:lnSpc>
                <a:spcPct val="150000"/>
              </a:lnSpc>
            </a:pPr>
            <a:r>
              <a:rPr lang="en-US" sz="1200" dirty="0"/>
              <a:t>Hawaii </a:t>
            </a:r>
            <a:r>
              <a:rPr lang="en-US" sz="1200" dirty="0">
                <a:sym typeface="Wingdings" panose="05000000000000000000" pitchFamily="2" charset="2"/>
              </a:rPr>
              <a:t> {</a:t>
            </a:r>
            <a:r>
              <a:rPr lang="en-US" sz="1200" dirty="0" err="1">
                <a:sym typeface="Wingdings" panose="05000000000000000000" pitchFamily="2" charset="2"/>
              </a:rPr>
              <a:t>Alaska,Texas,Califronia,New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Yrok</a:t>
            </a:r>
            <a:r>
              <a:rPr lang="en-US" sz="1200" dirty="0">
                <a:sym typeface="Wingdings" panose="05000000000000000000" pitchFamily="2" charset="2"/>
              </a:rPr>
              <a:t>}</a:t>
            </a:r>
            <a:endParaRPr lang="en-US" sz="1200" dirty="0"/>
          </a:p>
          <a:p>
            <a:pPr>
              <a:lnSpc>
                <a:spcPct val="150000"/>
              </a:lnSpc>
            </a:pPr>
            <a:r>
              <a:rPr lang="en-US" sz="1200" dirty="0"/>
              <a:t>New York </a:t>
            </a:r>
            <a:r>
              <a:rPr lang="en-US" sz="1200" dirty="0">
                <a:sym typeface="Wingdings" panose="05000000000000000000" pitchFamily="2" charset="2"/>
              </a:rPr>
              <a:t> {}</a:t>
            </a:r>
            <a:endParaRPr lang="en-US" sz="1200" dirty="0"/>
          </a:p>
          <a:p>
            <a:pPr>
              <a:lnSpc>
                <a:spcPct val="150000"/>
              </a:lnSpc>
            </a:pPr>
            <a:r>
              <a:rPr lang="en-US" sz="1200" dirty="0"/>
              <a:t>Oregon </a:t>
            </a:r>
            <a:r>
              <a:rPr lang="en-US" sz="1200" dirty="0">
                <a:sym typeface="Wingdings" panose="05000000000000000000" pitchFamily="2" charset="2"/>
              </a:rPr>
              <a:t> {}</a:t>
            </a:r>
            <a:endParaRPr lang="en-US" sz="1200" dirty="0"/>
          </a:p>
          <a:p>
            <a:pPr>
              <a:lnSpc>
                <a:spcPct val="150000"/>
              </a:lnSpc>
            </a:pPr>
            <a:r>
              <a:rPr lang="en-US" sz="1200" dirty="0"/>
              <a:t>Texas </a:t>
            </a:r>
            <a:r>
              <a:rPr lang="en-US" sz="1200" dirty="0">
                <a:sym typeface="Wingdings" panose="05000000000000000000" pitchFamily="2" charset="2"/>
              </a:rPr>
              <a:t> {</a:t>
            </a:r>
            <a:r>
              <a:rPr lang="en-US" sz="1200" dirty="0" err="1">
                <a:sym typeface="Wingdings" panose="05000000000000000000" pitchFamily="2" charset="2"/>
              </a:rPr>
              <a:t>Hawaii,Vermont</a:t>
            </a:r>
            <a:r>
              <a:rPr lang="en-US" sz="1200" dirty="0">
                <a:sym typeface="Wingdings" panose="05000000000000000000" pitchFamily="2" charset="2"/>
              </a:rPr>
              <a:t>}</a:t>
            </a:r>
            <a:endParaRPr lang="en-US" sz="1200" dirty="0"/>
          </a:p>
          <a:p>
            <a:pPr>
              <a:lnSpc>
                <a:spcPct val="150000"/>
              </a:lnSpc>
            </a:pPr>
            <a:r>
              <a:rPr lang="en-US" sz="1200" dirty="0"/>
              <a:t>Vermont </a:t>
            </a:r>
            <a:r>
              <a:rPr lang="en-US" sz="1200" dirty="0">
                <a:sym typeface="Wingdings" panose="05000000000000000000" pitchFamily="2" charset="2"/>
              </a:rPr>
              <a:t> {</a:t>
            </a:r>
            <a:r>
              <a:rPr lang="en-US" sz="1200" dirty="0" err="1">
                <a:sym typeface="Wingdings" panose="05000000000000000000" pitchFamily="2" charset="2"/>
              </a:rPr>
              <a:t>California,Alaska</a:t>
            </a:r>
            <a:r>
              <a:rPr lang="en-US" sz="1200" dirty="0">
                <a:sym typeface="Wingdings" panose="05000000000000000000" pitchFamily="2" charset="2"/>
              </a:rPr>
              <a:t>}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9B977FDE-32EA-465E-AADB-9C989EE1CA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609600"/>
            <a:ext cx="4391025" cy="264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4">
            <a:extLst>
              <a:ext uri="{FF2B5EF4-FFF2-40B4-BE49-F238E27FC236}">
                <a16:creationId xmlns:a16="http://schemas.microsoft.com/office/drawing/2014/main" id="{644F9C34-5703-4C24-9E52-5CCFFBD67C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3148202"/>
            <a:ext cx="5704254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		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4 a.    Which of the following lists the graph nodes in depth first order beginning with E?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	A)	E, G, F, C, D, B, A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	B)	G, A, E, C, B, F, D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1" dirty="0">
                <a:highlight>
                  <a:srgbClr val="FFFF00"/>
                </a:highlight>
              </a:rPr>
              <a:t>	C)	E, G, A, D, F, C, B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	D)	E, C, F, B, A, D, G </a:t>
            </a:r>
            <a:br>
              <a:rPr lang="en-US" altLang="en-US" sz="1200" dirty="0"/>
            </a:br>
            <a:endParaRPr lang="en-US" altLang="en-US" sz="1200" dirty="0"/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F45A182C-00FA-4567-8FE6-CAFB6DBCF4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854" y="5029200"/>
            <a:ext cx="571500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4 b.    Which of the following lists the graph nodes in breadth first order beginning at F?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	</a:t>
            </a:r>
            <a:r>
              <a:rPr lang="en-US" altLang="en-US" sz="1200" b="1" dirty="0">
                <a:highlight>
                  <a:srgbClr val="FFFF00"/>
                </a:highlight>
              </a:rPr>
              <a:t>A)  F, C, D, A, B, E, G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	B)  F, D, C, A, B, C, G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	C)  F, C, D, B, G, A, E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	D)  a, b, and c are all breadth first traversals </a:t>
            </a:r>
          </a:p>
        </p:txBody>
      </p:sp>
    </p:spTree>
    <p:extLst>
      <p:ext uri="{BB962C8B-B14F-4D97-AF65-F5344CB8AC3E}">
        <p14:creationId xmlns:p14="http://schemas.microsoft.com/office/powerpoint/2010/main" val="28453382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4" descr="9_633b">
            <a:extLst>
              <a:ext uri="{FF2B5EF4-FFF2-40B4-BE49-F238E27FC236}">
                <a16:creationId xmlns:a16="http://schemas.microsoft.com/office/drawing/2014/main" id="{31561808-D3EA-42DE-AACF-7FE716DB2F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685800"/>
            <a:ext cx="4648200" cy="2855913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99" name="Text Box 5">
            <a:extLst>
              <a:ext uri="{FF2B5EF4-FFF2-40B4-BE49-F238E27FC236}">
                <a16:creationId xmlns:a16="http://schemas.microsoft.com/office/drawing/2014/main" id="{6A9A4ED3-BE14-4EA7-88B6-70C20075BE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962400"/>
            <a:ext cx="39116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5.  Find the shortest </a:t>
            </a:r>
            <a:r>
              <a:rPr lang="en-US" altLang="en-US" sz="1200" u="sng" dirty="0"/>
              <a:t>distance</a:t>
            </a:r>
            <a:r>
              <a:rPr lang="en-US" altLang="en-US" sz="1200" dirty="0"/>
              <a:t> from Atlanta to every other city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111D4C2-762F-AD84-7539-456812A29B33}"/>
              </a:ext>
            </a:extLst>
          </p:cNvPr>
          <p:cNvSpPr/>
          <p:nvPr/>
        </p:nvSpPr>
        <p:spPr bwMode="auto">
          <a:xfrm>
            <a:off x="1066800" y="4569619"/>
            <a:ext cx="685800" cy="38655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Atlanta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8E47102-DAE1-A6D4-E36C-ABEC79C0E495}"/>
              </a:ext>
            </a:extLst>
          </p:cNvPr>
          <p:cNvSpPr/>
          <p:nvPr/>
        </p:nvSpPr>
        <p:spPr bwMode="auto">
          <a:xfrm>
            <a:off x="3200400" y="4572000"/>
            <a:ext cx="914400" cy="38655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Washington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7DE929A-E2AC-5AAA-82F3-2E36A89B0043}"/>
              </a:ext>
            </a:extLst>
          </p:cNvPr>
          <p:cNvCxnSpPr>
            <a:stCxn id="2" idx="3"/>
            <a:endCxn id="3" idx="1"/>
          </p:cNvCxnSpPr>
          <p:nvPr/>
        </p:nvCxnSpPr>
        <p:spPr bwMode="auto">
          <a:xfrm>
            <a:off x="1752600" y="4762898"/>
            <a:ext cx="1447800" cy="238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B79F5C3-5DF9-64B6-2DAB-FB77C5C754EF}"/>
              </a:ext>
            </a:extLst>
          </p:cNvPr>
          <p:cNvSpPr txBox="1"/>
          <p:nvPr/>
        </p:nvSpPr>
        <p:spPr>
          <a:xfrm>
            <a:off x="2133600" y="4340621"/>
            <a:ext cx="76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600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7E2B2EA-CD31-AA35-FF47-5E68D6D91BED}"/>
              </a:ext>
            </a:extLst>
          </p:cNvPr>
          <p:cNvCxnSpPr/>
          <p:nvPr/>
        </p:nvCxnSpPr>
        <p:spPr bwMode="auto">
          <a:xfrm>
            <a:off x="1724025" y="5421212"/>
            <a:ext cx="1447800" cy="238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3E258F4-6C83-E547-715D-5673786FA749}"/>
              </a:ext>
            </a:extLst>
          </p:cNvPr>
          <p:cNvSpPr/>
          <p:nvPr/>
        </p:nvSpPr>
        <p:spPr bwMode="auto">
          <a:xfrm>
            <a:off x="1042035" y="5206726"/>
            <a:ext cx="685800" cy="38655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Atlanta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9C42C6D-CAF4-10A2-2FF4-F75C268748CC}"/>
              </a:ext>
            </a:extLst>
          </p:cNvPr>
          <p:cNvSpPr/>
          <p:nvPr/>
        </p:nvSpPr>
        <p:spPr bwMode="auto">
          <a:xfrm>
            <a:off x="3200400" y="5230816"/>
            <a:ext cx="914400" cy="38655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Houston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D681BA-32B9-EA57-4E77-6E3A19929A59}"/>
              </a:ext>
            </a:extLst>
          </p:cNvPr>
          <p:cNvSpPr txBox="1"/>
          <p:nvPr/>
        </p:nvSpPr>
        <p:spPr>
          <a:xfrm>
            <a:off x="2083117" y="5058841"/>
            <a:ext cx="76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800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7411801-5E19-A82C-18F3-625E03098E2C}"/>
              </a:ext>
            </a:extLst>
          </p:cNvPr>
          <p:cNvCxnSpPr/>
          <p:nvPr/>
        </p:nvCxnSpPr>
        <p:spPr bwMode="auto">
          <a:xfrm>
            <a:off x="1767840" y="6082455"/>
            <a:ext cx="1447800" cy="238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62ABE23-2640-5F3B-1B13-D020F31AF3E3}"/>
              </a:ext>
            </a:extLst>
          </p:cNvPr>
          <p:cNvSpPr/>
          <p:nvPr/>
        </p:nvSpPr>
        <p:spPr bwMode="auto">
          <a:xfrm>
            <a:off x="1089660" y="5889177"/>
            <a:ext cx="685800" cy="38655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Atlanta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643BCD4-6B57-AC99-AD53-EE69ED61B2A2}"/>
              </a:ext>
            </a:extLst>
          </p:cNvPr>
          <p:cNvSpPr/>
          <p:nvPr/>
        </p:nvSpPr>
        <p:spPr bwMode="auto">
          <a:xfrm>
            <a:off x="3223260" y="5889176"/>
            <a:ext cx="914400" cy="38655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Dallas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5E6472E-8EB3-A7E7-7FD3-C8557652AB02}"/>
              </a:ext>
            </a:extLst>
          </p:cNvPr>
          <p:cNvSpPr txBox="1"/>
          <p:nvPr/>
        </p:nvSpPr>
        <p:spPr>
          <a:xfrm>
            <a:off x="2091690" y="5697733"/>
            <a:ext cx="8039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1900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EDE3848-8EF7-65C4-B354-CF6FA56FC1FF}"/>
              </a:ext>
            </a:extLst>
          </p:cNvPr>
          <p:cNvCxnSpPr/>
          <p:nvPr/>
        </p:nvCxnSpPr>
        <p:spPr bwMode="auto">
          <a:xfrm>
            <a:off x="1716405" y="6806398"/>
            <a:ext cx="1447800" cy="238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25A1058-D73B-FD22-CC05-0005ADF776B7}"/>
              </a:ext>
            </a:extLst>
          </p:cNvPr>
          <p:cNvSpPr/>
          <p:nvPr/>
        </p:nvSpPr>
        <p:spPr bwMode="auto">
          <a:xfrm>
            <a:off x="1038225" y="6613120"/>
            <a:ext cx="685800" cy="38655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Atlanta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4AE86DA-B9BF-F1F4-78F1-BB38DAE119EF}"/>
              </a:ext>
            </a:extLst>
          </p:cNvPr>
          <p:cNvSpPr/>
          <p:nvPr/>
        </p:nvSpPr>
        <p:spPr bwMode="auto">
          <a:xfrm>
            <a:off x="3171825" y="6613119"/>
            <a:ext cx="914400" cy="38655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Austin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7BEEEC9-7F82-00FB-B93B-8549D85A4988}"/>
              </a:ext>
            </a:extLst>
          </p:cNvPr>
          <p:cNvSpPr txBox="1"/>
          <p:nvPr/>
        </p:nvSpPr>
        <p:spPr>
          <a:xfrm>
            <a:off x="2040255" y="6421676"/>
            <a:ext cx="8039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2100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51F2AFA-0292-45F6-DC73-96B483BEF6A9}"/>
              </a:ext>
            </a:extLst>
          </p:cNvPr>
          <p:cNvCxnSpPr/>
          <p:nvPr/>
        </p:nvCxnSpPr>
        <p:spPr bwMode="auto">
          <a:xfrm>
            <a:off x="1708785" y="7438700"/>
            <a:ext cx="1447800" cy="238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EE9CC91-59BD-3D20-D84A-834E45934A58}"/>
              </a:ext>
            </a:extLst>
          </p:cNvPr>
          <p:cNvSpPr/>
          <p:nvPr/>
        </p:nvSpPr>
        <p:spPr bwMode="auto">
          <a:xfrm>
            <a:off x="1030605" y="7245422"/>
            <a:ext cx="685800" cy="38655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Atlanta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270A22D4-00D6-2ED1-C4BC-F722E602C9AC}"/>
              </a:ext>
            </a:extLst>
          </p:cNvPr>
          <p:cNvSpPr/>
          <p:nvPr/>
        </p:nvSpPr>
        <p:spPr bwMode="auto">
          <a:xfrm>
            <a:off x="3164205" y="7245421"/>
            <a:ext cx="914400" cy="38655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Denver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18203D8-0B76-B486-1A62-8D9689371F72}"/>
              </a:ext>
            </a:extLst>
          </p:cNvPr>
          <p:cNvSpPr txBox="1"/>
          <p:nvPr/>
        </p:nvSpPr>
        <p:spPr>
          <a:xfrm>
            <a:off x="2032635" y="7053978"/>
            <a:ext cx="8039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2680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6EE7468-4072-79C0-7946-FF7697F07656}"/>
              </a:ext>
            </a:extLst>
          </p:cNvPr>
          <p:cNvCxnSpPr/>
          <p:nvPr/>
        </p:nvCxnSpPr>
        <p:spPr bwMode="auto">
          <a:xfrm>
            <a:off x="1701165" y="8186223"/>
            <a:ext cx="1447800" cy="238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97198FC-8687-6A98-0A1C-5B4B6F3E71E0}"/>
              </a:ext>
            </a:extLst>
          </p:cNvPr>
          <p:cNvSpPr/>
          <p:nvPr/>
        </p:nvSpPr>
        <p:spPr bwMode="auto">
          <a:xfrm>
            <a:off x="1022985" y="7992945"/>
            <a:ext cx="685800" cy="38655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Atlanta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9F912E01-A498-7EF6-79F3-0DB7E4F4745D}"/>
              </a:ext>
            </a:extLst>
          </p:cNvPr>
          <p:cNvSpPr/>
          <p:nvPr/>
        </p:nvSpPr>
        <p:spPr bwMode="auto">
          <a:xfrm>
            <a:off x="3156585" y="7992944"/>
            <a:ext cx="914400" cy="38655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Chicago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053CDA9-D935-B821-F405-612A92506823}"/>
              </a:ext>
            </a:extLst>
          </p:cNvPr>
          <p:cNvSpPr txBox="1"/>
          <p:nvPr/>
        </p:nvSpPr>
        <p:spPr>
          <a:xfrm>
            <a:off x="2025015" y="7801501"/>
            <a:ext cx="8039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2900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34FDC26-9B7D-83B5-C17F-CE5F650E9176}"/>
              </a:ext>
            </a:extLst>
          </p:cNvPr>
          <p:cNvSpPr txBox="1"/>
          <p:nvPr/>
        </p:nvSpPr>
        <p:spPr>
          <a:xfrm>
            <a:off x="4145280" y="5952444"/>
            <a:ext cx="23622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Atlanta -&gt; </a:t>
            </a:r>
            <a:r>
              <a:rPr lang="en-US" sz="1050" dirty="0" err="1"/>
              <a:t>Washingston</a:t>
            </a:r>
            <a:r>
              <a:rPr lang="en-US" sz="1050" dirty="0"/>
              <a:t>  -&gt; Dallas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B6122EA-6441-CECA-12FF-D66D807415A1}"/>
              </a:ext>
            </a:extLst>
          </p:cNvPr>
          <p:cNvSpPr txBox="1"/>
          <p:nvPr/>
        </p:nvSpPr>
        <p:spPr>
          <a:xfrm>
            <a:off x="4137660" y="6681854"/>
            <a:ext cx="26289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Atlanta -&gt; </a:t>
            </a:r>
            <a:r>
              <a:rPr lang="en-US" sz="1050" dirty="0" err="1"/>
              <a:t>Washingston</a:t>
            </a:r>
            <a:r>
              <a:rPr lang="en-US" sz="1050" dirty="0"/>
              <a:t>  -&gt; Dallas -&gt; Austin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CBEC613-B599-AAFF-F316-8191A8CE7C80}"/>
              </a:ext>
            </a:extLst>
          </p:cNvPr>
          <p:cNvSpPr txBox="1"/>
          <p:nvPr/>
        </p:nvSpPr>
        <p:spPr>
          <a:xfrm>
            <a:off x="4051935" y="7309360"/>
            <a:ext cx="26289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Atlanta -&gt; </a:t>
            </a:r>
            <a:r>
              <a:rPr lang="en-US" sz="1050" dirty="0" err="1"/>
              <a:t>Washingston</a:t>
            </a:r>
            <a:r>
              <a:rPr lang="en-US" sz="1050" dirty="0"/>
              <a:t>  -&gt; Dallas -&gt; Denver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22F762F-804F-61CB-6F99-BDEFB00B7A80}"/>
              </a:ext>
            </a:extLst>
          </p:cNvPr>
          <p:cNvSpPr txBox="1"/>
          <p:nvPr/>
        </p:nvSpPr>
        <p:spPr>
          <a:xfrm>
            <a:off x="4107180" y="8028104"/>
            <a:ext cx="275082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Atlanta -&gt; </a:t>
            </a:r>
            <a:r>
              <a:rPr lang="en-US" sz="1050" dirty="0" err="1"/>
              <a:t>Washingston</a:t>
            </a:r>
            <a:r>
              <a:rPr lang="en-US" sz="1050" dirty="0"/>
              <a:t>  -&gt; Dallas -&gt; Chicago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 Box 5">
            <a:extLst>
              <a:ext uri="{FF2B5EF4-FFF2-40B4-BE49-F238E27FC236}">
                <a16:creationId xmlns:a16="http://schemas.microsoft.com/office/drawing/2014/main" id="{173F8752-B146-46CD-B46E-CFF49491B8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609600"/>
            <a:ext cx="4942443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350" dirty="0"/>
              <a:t>6.  Find the minimal spanning tree using Prim’s algorithm. Use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350" dirty="0"/>
              <a:t>	0 as the source vertex .  Show the steps.</a:t>
            </a:r>
          </a:p>
        </p:txBody>
      </p:sp>
      <p:pic>
        <p:nvPicPr>
          <p:cNvPr id="2051" name="Picture 5">
            <a:extLst>
              <a:ext uri="{FF2B5EF4-FFF2-40B4-BE49-F238E27FC236}">
                <a16:creationId xmlns:a16="http://schemas.microsoft.com/office/drawing/2014/main" id="{46AC5A2B-1B00-4434-8F50-20AAD41C6B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524000"/>
            <a:ext cx="2686050" cy="2128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1CD2B06-8B14-C515-8666-B5F6A98AD5F4}"/>
              </a:ext>
            </a:extLst>
          </p:cNvPr>
          <p:cNvSpPr txBox="1"/>
          <p:nvPr/>
        </p:nvSpPr>
        <p:spPr>
          <a:xfrm>
            <a:off x="371475" y="4822091"/>
            <a:ext cx="2438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Step 2. )</a:t>
            </a:r>
          </a:p>
          <a:p>
            <a:r>
              <a:rPr lang="en-US" sz="1200" dirty="0"/>
              <a:t>V(T) = {0,2}</a:t>
            </a:r>
          </a:p>
          <a:p>
            <a:r>
              <a:rPr lang="en-US" sz="1200" dirty="0"/>
              <a:t>E(T) = {(0,2)}</a:t>
            </a:r>
          </a:p>
          <a:p>
            <a:r>
              <a:rPr lang="en-US" sz="1200" dirty="0"/>
              <a:t>N = {1,3,4,5}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39508B-57D1-0755-81F5-9E378057EF4A}"/>
              </a:ext>
            </a:extLst>
          </p:cNvPr>
          <p:cNvSpPr txBox="1"/>
          <p:nvPr/>
        </p:nvSpPr>
        <p:spPr>
          <a:xfrm>
            <a:off x="390525" y="3821966"/>
            <a:ext cx="2438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Step 1. )</a:t>
            </a:r>
          </a:p>
          <a:p>
            <a:r>
              <a:rPr lang="en-US" sz="1200" dirty="0"/>
              <a:t>V(T) = {0}</a:t>
            </a:r>
          </a:p>
          <a:p>
            <a:r>
              <a:rPr lang="en-US" sz="1200" dirty="0"/>
              <a:t>E(T) = {}</a:t>
            </a:r>
          </a:p>
          <a:p>
            <a:r>
              <a:rPr lang="en-US" sz="1200" dirty="0"/>
              <a:t>N = {1,2,3,4,5}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07D0E0-5D6B-F270-7378-1CEDF50980F5}"/>
              </a:ext>
            </a:extLst>
          </p:cNvPr>
          <p:cNvSpPr txBox="1"/>
          <p:nvPr/>
        </p:nvSpPr>
        <p:spPr>
          <a:xfrm>
            <a:off x="390525" y="5841266"/>
            <a:ext cx="2438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Step 3. )</a:t>
            </a:r>
          </a:p>
          <a:p>
            <a:r>
              <a:rPr lang="en-US" sz="1200" dirty="0"/>
              <a:t>V(T) = {0,2,5}</a:t>
            </a:r>
          </a:p>
          <a:p>
            <a:r>
              <a:rPr lang="en-US" sz="1200" dirty="0"/>
              <a:t>E(T) = {(0,2) , (2,5)}</a:t>
            </a:r>
          </a:p>
          <a:p>
            <a:r>
              <a:rPr lang="en-US" sz="1200" dirty="0"/>
              <a:t>N = {1,3,4}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D8DB7F-F348-8AF4-2020-AD4FDAE26AB3}"/>
              </a:ext>
            </a:extLst>
          </p:cNvPr>
          <p:cNvSpPr txBox="1"/>
          <p:nvPr/>
        </p:nvSpPr>
        <p:spPr>
          <a:xfrm>
            <a:off x="371475" y="6817578"/>
            <a:ext cx="2438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Step 4. )</a:t>
            </a:r>
          </a:p>
          <a:p>
            <a:r>
              <a:rPr lang="en-US" sz="1200" dirty="0"/>
              <a:t>V(T) = {0,1,2,5}</a:t>
            </a:r>
          </a:p>
          <a:p>
            <a:r>
              <a:rPr lang="en-US" sz="1200" dirty="0"/>
              <a:t>E(T) = {(0,2) , (2,5), (5,1)}</a:t>
            </a:r>
          </a:p>
          <a:p>
            <a:r>
              <a:rPr lang="en-US" sz="1200" dirty="0"/>
              <a:t>N = {3,4}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9E2690-AEFD-B561-5847-77D4CF060933}"/>
              </a:ext>
            </a:extLst>
          </p:cNvPr>
          <p:cNvSpPr txBox="1"/>
          <p:nvPr/>
        </p:nvSpPr>
        <p:spPr>
          <a:xfrm>
            <a:off x="2809875" y="3769578"/>
            <a:ext cx="2438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Step 5. )</a:t>
            </a:r>
          </a:p>
          <a:p>
            <a:r>
              <a:rPr lang="en-US" sz="1200" dirty="0"/>
              <a:t>V(T) = {0,1,2,4,5}</a:t>
            </a:r>
          </a:p>
          <a:p>
            <a:r>
              <a:rPr lang="en-US" sz="1200" dirty="0"/>
              <a:t>E(T) = {(0,2) , (2,5), (5,1), (5,4)}</a:t>
            </a:r>
          </a:p>
          <a:p>
            <a:r>
              <a:rPr lang="en-US" sz="1200" dirty="0"/>
              <a:t>N = {3}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5D268B-D02A-95F9-1433-0470DE2E9C3F}"/>
              </a:ext>
            </a:extLst>
          </p:cNvPr>
          <p:cNvSpPr txBox="1"/>
          <p:nvPr/>
        </p:nvSpPr>
        <p:spPr>
          <a:xfrm>
            <a:off x="2809875" y="4600575"/>
            <a:ext cx="26659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Step 5. )</a:t>
            </a:r>
          </a:p>
          <a:p>
            <a:r>
              <a:rPr lang="en-US" sz="1200" dirty="0"/>
              <a:t>V(T) = {0,1,2,3,4,5}</a:t>
            </a:r>
          </a:p>
          <a:p>
            <a:r>
              <a:rPr lang="en-US" sz="1200" dirty="0"/>
              <a:t>E(T) = {(0,2) , (2,5), (5,1), (5,4), (1,3)}</a:t>
            </a:r>
          </a:p>
          <a:p>
            <a:r>
              <a:rPr lang="en-US" sz="1200" dirty="0"/>
              <a:t>N = {}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5659D1-AD64-6C46-4BA8-456AE03F8D14}"/>
              </a:ext>
            </a:extLst>
          </p:cNvPr>
          <p:cNvSpPr txBox="1"/>
          <p:nvPr/>
        </p:nvSpPr>
        <p:spPr>
          <a:xfrm>
            <a:off x="2828925" y="5653088"/>
            <a:ext cx="26659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Total Weight =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3">
            <a:extLst>
              <a:ext uri="{FF2B5EF4-FFF2-40B4-BE49-F238E27FC236}">
                <a16:creationId xmlns:a16="http://schemas.microsoft.com/office/drawing/2014/main" id="{00A92C8E-6175-4482-94F6-9AEE58F153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838200"/>
            <a:ext cx="634885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sz="1800" dirty="0"/>
              <a:t>7.  Find the minimal spanning tree using Kruskal’s algorithm.</a:t>
            </a:r>
          </a:p>
          <a:p>
            <a:pPr eaLnBrk="1" hangingPunct="1">
              <a:defRPr/>
            </a:pPr>
            <a:r>
              <a:rPr lang="en-US" sz="1800" dirty="0"/>
              <a:t>Show the weights in order and the steps.</a:t>
            </a:r>
          </a:p>
        </p:txBody>
      </p:sp>
      <p:sp>
        <p:nvSpPr>
          <p:cNvPr id="3075" name="Rectangle 4">
            <a:extLst>
              <a:ext uri="{FF2B5EF4-FFF2-40B4-BE49-F238E27FC236}">
                <a16:creationId xmlns:a16="http://schemas.microsoft.com/office/drawing/2014/main" id="{E71DD7EA-C580-43B3-BC05-FA24AC85E0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450" y="4800600"/>
            <a:ext cx="2571750" cy="2857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350"/>
          </a:p>
        </p:txBody>
      </p:sp>
      <p:sp>
        <p:nvSpPr>
          <p:cNvPr id="3076" name="Rectangle 5">
            <a:extLst>
              <a:ext uri="{FF2B5EF4-FFF2-40B4-BE49-F238E27FC236}">
                <a16:creationId xmlns:a16="http://schemas.microsoft.com/office/drawing/2014/main" id="{5A054E60-1451-4BFE-A023-A4DF0B7F16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743200"/>
            <a:ext cx="2228850" cy="21717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350"/>
          </a:p>
        </p:txBody>
      </p:sp>
      <p:sp>
        <p:nvSpPr>
          <p:cNvPr id="3078" name="Rectangle 7">
            <a:extLst>
              <a:ext uri="{FF2B5EF4-FFF2-40B4-BE49-F238E27FC236}">
                <a16:creationId xmlns:a16="http://schemas.microsoft.com/office/drawing/2014/main" id="{2C2C5CBD-8904-410A-901D-4499337BD2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0250" y="4572000"/>
            <a:ext cx="2400300" cy="228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350"/>
          </a:p>
        </p:txBody>
      </p:sp>
      <p:sp>
        <p:nvSpPr>
          <p:cNvPr id="3079" name="Rectangle 8">
            <a:extLst>
              <a:ext uri="{FF2B5EF4-FFF2-40B4-BE49-F238E27FC236}">
                <a16:creationId xmlns:a16="http://schemas.microsoft.com/office/drawing/2014/main" id="{4FDBE91F-B50C-4798-9349-2A662252E3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4550" y="2743200"/>
            <a:ext cx="2343150" cy="1714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350"/>
          </a:p>
        </p:txBody>
      </p:sp>
      <p:pic>
        <p:nvPicPr>
          <p:cNvPr id="3080" name="Picture 5">
            <a:extLst>
              <a:ext uri="{FF2B5EF4-FFF2-40B4-BE49-F238E27FC236}">
                <a16:creationId xmlns:a16="http://schemas.microsoft.com/office/drawing/2014/main" id="{C44D3F9C-B06C-4D17-8564-DC283D6A4E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600200"/>
            <a:ext cx="2686050" cy="2128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84BD9D8-C564-791E-8BF4-007A85C75A8C}"/>
              </a:ext>
            </a:extLst>
          </p:cNvPr>
          <p:cNvSpPr txBox="1"/>
          <p:nvPr/>
        </p:nvSpPr>
        <p:spPr>
          <a:xfrm>
            <a:off x="3742024" y="1652245"/>
            <a:ext cx="990600" cy="1869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Step 1) Edges and weights</a:t>
            </a:r>
          </a:p>
          <a:p>
            <a:endParaRPr lang="en-US" sz="1050" dirty="0"/>
          </a:p>
          <a:p>
            <a:r>
              <a:rPr lang="en-US" sz="1050" dirty="0"/>
              <a:t>0-1 (7)</a:t>
            </a:r>
          </a:p>
          <a:p>
            <a:r>
              <a:rPr lang="en-US" sz="1050" dirty="0"/>
              <a:t>0-2 (3)</a:t>
            </a:r>
          </a:p>
          <a:p>
            <a:r>
              <a:rPr lang="en-US" sz="1050" dirty="0"/>
              <a:t>1-3 (5)</a:t>
            </a:r>
          </a:p>
          <a:p>
            <a:r>
              <a:rPr lang="en-US" sz="1050" dirty="0"/>
              <a:t>1-5 (2)</a:t>
            </a:r>
          </a:p>
          <a:p>
            <a:r>
              <a:rPr lang="en-US" sz="1050" dirty="0"/>
              <a:t>2-5 (1)</a:t>
            </a:r>
          </a:p>
          <a:p>
            <a:r>
              <a:rPr lang="en-US" sz="1050" dirty="0"/>
              <a:t>2-4 (8)</a:t>
            </a:r>
          </a:p>
          <a:p>
            <a:r>
              <a:rPr lang="en-US" sz="1050" dirty="0"/>
              <a:t>3-4 (6)</a:t>
            </a:r>
          </a:p>
          <a:p>
            <a:r>
              <a:rPr lang="en-US" sz="1050" dirty="0"/>
              <a:t>4-5 (3)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4492DC-B835-B809-C6C3-F2A9001FB659}"/>
              </a:ext>
            </a:extLst>
          </p:cNvPr>
          <p:cNvSpPr txBox="1"/>
          <p:nvPr/>
        </p:nvSpPr>
        <p:spPr>
          <a:xfrm>
            <a:off x="5007548" y="1633195"/>
            <a:ext cx="990600" cy="1869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Step 2) Order by weight</a:t>
            </a:r>
          </a:p>
          <a:p>
            <a:endParaRPr lang="en-US" sz="1050" dirty="0"/>
          </a:p>
          <a:p>
            <a:r>
              <a:rPr lang="en-US" sz="1050" dirty="0"/>
              <a:t>2-5 (1)</a:t>
            </a:r>
          </a:p>
          <a:p>
            <a:r>
              <a:rPr lang="en-US" sz="1050" dirty="0"/>
              <a:t>1-5 (2)</a:t>
            </a:r>
          </a:p>
          <a:p>
            <a:r>
              <a:rPr lang="en-US" sz="1050" dirty="0"/>
              <a:t>0-2 (3)</a:t>
            </a:r>
          </a:p>
          <a:p>
            <a:r>
              <a:rPr lang="en-US" sz="1050" dirty="0"/>
              <a:t>4-5 (3)</a:t>
            </a:r>
          </a:p>
          <a:p>
            <a:r>
              <a:rPr lang="en-US" sz="1050" dirty="0"/>
              <a:t>1-3 (5)</a:t>
            </a:r>
          </a:p>
          <a:p>
            <a:r>
              <a:rPr lang="en-US" sz="1050" dirty="0"/>
              <a:t>3-4 (6)</a:t>
            </a:r>
          </a:p>
          <a:p>
            <a:r>
              <a:rPr lang="en-US" sz="1050" dirty="0"/>
              <a:t>0-1 (7)</a:t>
            </a:r>
          </a:p>
          <a:p>
            <a:r>
              <a:rPr lang="en-US" sz="1050" dirty="0"/>
              <a:t>2-4 (8)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55FF9B-AE33-277D-E124-9426C56A12CC}"/>
              </a:ext>
            </a:extLst>
          </p:cNvPr>
          <p:cNvSpPr txBox="1"/>
          <p:nvPr/>
        </p:nvSpPr>
        <p:spPr>
          <a:xfrm>
            <a:off x="466725" y="3865728"/>
            <a:ext cx="990600" cy="2192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Step 3) Build MST</a:t>
            </a:r>
          </a:p>
          <a:p>
            <a:endParaRPr lang="en-US" sz="1050" dirty="0"/>
          </a:p>
          <a:p>
            <a:r>
              <a:rPr lang="en-US" sz="1050" dirty="0"/>
              <a:t>V = {2,5}</a:t>
            </a:r>
          </a:p>
          <a:p>
            <a:endParaRPr lang="en-US" sz="1050" dirty="0"/>
          </a:p>
          <a:p>
            <a:r>
              <a:rPr lang="en-US" sz="1050" b="1" dirty="0"/>
              <a:t>2-5 (1)</a:t>
            </a:r>
          </a:p>
          <a:p>
            <a:r>
              <a:rPr lang="en-US" sz="1050" dirty="0"/>
              <a:t>1-5 (2)</a:t>
            </a:r>
          </a:p>
          <a:p>
            <a:r>
              <a:rPr lang="en-US" sz="1050" dirty="0"/>
              <a:t>0-2 (3)</a:t>
            </a:r>
          </a:p>
          <a:p>
            <a:r>
              <a:rPr lang="en-US" sz="1050" dirty="0"/>
              <a:t>4-5 (3)</a:t>
            </a:r>
          </a:p>
          <a:p>
            <a:r>
              <a:rPr lang="en-US" sz="1050" dirty="0"/>
              <a:t>1-3 (5)</a:t>
            </a:r>
          </a:p>
          <a:p>
            <a:r>
              <a:rPr lang="en-US" sz="1050" dirty="0"/>
              <a:t>3-4 (6)</a:t>
            </a:r>
          </a:p>
          <a:p>
            <a:r>
              <a:rPr lang="en-US" sz="1050" dirty="0"/>
              <a:t>0-1 (7)</a:t>
            </a:r>
          </a:p>
          <a:p>
            <a:r>
              <a:rPr lang="en-US" sz="1050" dirty="0"/>
              <a:t>2-4 (8)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E5BF14-1B6C-A330-3A97-B09D794A9812}"/>
              </a:ext>
            </a:extLst>
          </p:cNvPr>
          <p:cNvSpPr txBox="1"/>
          <p:nvPr/>
        </p:nvSpPr>
        <p:spPr>
          <a:xfrm>
            <a:off x="1562100" y="3865728"/>
            <a:ext cx="990600" cy="2192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Continued) Build MST</a:t>
            </a:r>
          </a:p>
          <a:p>
            <a:endParaRPr lang="en-US" sz="1050" dirty="0"/>
          </a:p>
          <a:p>
            <a:r>
              <a:rPr lang="en-US" sz="1050" dirty="0"/>
              <a:t>V = {1,2,5}</a:t>
            </a:r>
          </a:p>
          <a:p>
            <a:endParaRPr lang="en-US" sz="1050" dirty="0"/>
          </a:p>
          <a:p>
            <a:r>
              <a:rPr lang="en-US" sz="1050" b="1" dirty="0"/>
              <a:t>2-5 (1)</a:t>
            </a:r>
          </a:p>
          <a:p>
            <a:r>
              <a:rPr lang="en-US" sz="1050" b="1" dirty="0"/>
              <a:t>1-5 (2)</a:t>
            </a:r>
          </a:p>
          <a:p>
            <a:r>
              <a:rPr lang="en-US" sz="1050" dirty="0"/>
              <a:t>0-2 (3)</a:t>
            </a:r>
          </a:p>
          <a:p>
            <a:r>
              <a:rPr lang="en-US" sz="1050" dirty="0"/>
              <a:t>4-5 (3)</a:t>
            </a:r>
          </a:p>
          <a:p>
            <a:r>
              <a:rPr lang="en-US" sz="1050" dirty="0"/>
              <a:t>1-3 (5)</a:t>
            </a:r>
          </a:p>
          <a:p>
            <a:r>
              <a:rPr lang="en-US" sz="1050" dirty="0"/>
              <a:t>3-4 (6)</a:t>
            </a:r>
          </a:p>
          <a:p>
            <a:r>
              <a:rPr lang="en-US" sz="1050" dirty="0"/>
              <a:t>0-1 (7)</a:t>
            </a:r>
          </a:p>
          <a:p>
            <a:r>
              <a:rPr lang="en-US" sz="1050" dirty="0"/>
              <a:t>2-4 (8)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F92AE3-0EFE-F3E0-6AB3-C07B435050C8}"/>
              </a:ext>
            </a:extLst>
          </p:cNvPr>
          <p:cNvSpPr txBox="1"/>
          <p:nvPr/>
        </p:nvSpPr>
        <p:spPr>
          <a:xfrm>
            <a:off x="2486025" y="3857625"/>
            <a:ext cx="990600" cy="2192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Continued) Build MST</a:t>
            </a:r>
          </a:p>
          <a:p>
            <a:endParaRPr lang="en-US" sz="1050" dirty="0"/>
          </a:p>
          <a:p>
            <a:r>
              <a:rPr lang="en-US" sz="1050" dirty="0"/>
              <a:t>V = {0,1,2,5}</a:t>
            </a:r>
          </a:p>
          <a:p>
            <a:endParaRPr lang="en-US" sz="1050" dirty="0"/>
          </a:p>
          <a:p>
            <a:r>
              <a:rPr lang="en-US" sz="1050" b="1" dirty="0"/>
              <a:t>2-5 (1)</a:t>
            </a:r>
          </a:p>
          <a:p>
            <a:r>
              <a:rPr lang="en-US" sz="1050" b="1" dirty="0"/>
              <a:t>1-5 (2)</a:t>
            </a:r>
          </a:p>
          <a:p>
            <a:r>
              <a:rPr lang="en-US" sz="1050" b="1" dirty="0"/>
              <a:t>0-2 (3)</a:t>
            </a:r>
          </a:p>
          <a:p>
            <a:r>
              <a:rPr lang="en-US" sz="1050" dirty="0"/>
              <a:t>4-5 (3)</a:t>
            </a:r>
          </a:p>
          <a:p>
            <a:r>
              <a:rPr lang="en-US" sz="1050" dirty="0"/>
              <a:t>1-3 (5)</a:t>
            </a:r>
          </a:p>
          <a:p>
            <a:r>
              <a:rPr lang="en-US" sz="1050" dirty="0"/>
              <a:t>3-4 (6)</a:t>
            </a:r>
          </a:p>
          <a:p>
            <a:r>
              <a:rPr lang="en-US" sz="1050" dirty="0"/>
              <a:t>0-1 (7)</a:t>
            </a:r>
          </a:p>
          <a:p>
            <a:r>
              <a:rPr lang="en-US" sz="1050" dirty="0"/>
              <a:t>2-4 (8)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58350F-A57B-3DAF-77FE-3338627A9768}"/>
              </a:ext>
            </a:extLst>
          </p:cNvPr>
          <p:cNvSpPr txBox="1"/>
          <p:nvPr/>
        </p:nvSpPr>
        <p:spPr>
          <a:xfrm>
            <a:off x="3571875" y="3857625"/>
            <a:ext cx="1085850" cy="2192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Continued) Build MST</a:t>
            </a:r>
          </a:p>
          <a:p>
            <a:endParaRPr lang="en-US" sz="1050" dirty="0"/>
          </a:p>
          <a:p>
            <a:r>
              <a:rPr lang="en-US" sz="1050" dirty="0"/>
              <a:t>V = {0,1,2,4,5}</a:t>
            </a:r>
          </a:p>
          <a:p>
            <a:endParaRPr lang="en-US" sz="1050" dirty="0"/>
          </a:p>
          <a:p>
            <a:r>
              <a:rPr lang="en-US" sz="1050" b="1" dirty="0"/>
              <a:t>2-5 (1)</a:t>
            </a:r>
          </a:p>
          <a:p>
            <a:r>
              <a:rPr lang="en-US" sz="1050" b="1" dirty="0"/>
              <a:t>1-5 (2)</a:t>
            </a:r>
          </a:p>
          <a:p>
            <a:r>
              <a:rPr lang="en-US" sz="1050" b="1" dirty="0"/>
              <a:t>0-2 (3)</a:t>
            </a:r>
          </a:p>
          <a:p>
            <a:r>
              <a:rPr lang="en-US" sz="1050" b="1" dirty="0"/>
              <a:t>4-5 (3)</a:t>
            </a:r>
          </a:p>
          <a:p>
            <a:r>
              <a:rPr lang="en-US" sz="1050" dirty="0"/>
              <a:t>1-3 (5)</a:t>
            </a:r>
          </a:p>
          <a:p>
            <a:r>
              <a:rPr lang="en-US" sz="1050" dirty="0"/>
              <a:t>3-4 (6)</a:t>
            </a:r>
          </a:p>
          <a:p>
            <a:r>
              <a:rPr lang="en-US" sz="1050" dirty="0"/>
              <a:t>0-1 (7)</a:t>
            </a:r>
          </a:p>
          <a:p>
            <a:r>
              <a:rPr lang="en-US" sz="1050" dirty="0"/>
              <a:t>2-4 (8)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03FC38-DD80-5A36-C380-0789786AD56B}"/>
              </a:ext>
            </a:extLst>
          </p:cNvPr>
          <p:cNvSpPr txBox="1"/>
          <p:nvPr/>
        </p:nvSpPr>
        <p:spPr>
          <a:xfrm>
            <a:off x="4781550" y="3847021"/>
            <a:ext cx="1314450" cy="2192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Continued) Build MST</a:t>
            </a:r>
          </a:p>
          <a:p>
            <a:endParaRPr lang="en-US" sz="1050" dirty="0"/>
          </a:p>
          <a:p>
            <a:r>
              <a:rPr lang="en-US" sz="1050" dirty="0"/>
              <a:t>V = {0,1,2,3,4,5}</a:t>
            </a:r>
          </a:p>
          <a:p>
            <a:endParaRPr lang="en-US" sz="1050" dirty="0"/>
          </a:p>
          <a:p>
            <a:r>
              <a:rPr lang="en-US" sz="1050" b="1" dirty="0"/>
              <a:t>2-5 (1)</a:t>
            </a:r>
          </a:p>
          <a:p>
            <a:r>
              <a:rPr lang="en-US" sz="1050" b="1" dirty="0"/>
              <a:t>1-5 (2)</a:t>
            </a:r>
          </a:p>
          <a:p>
            <a:r>
              <a:rPr lang="en-US" sz="1050" b="1" dirty="0"/>
              <a:t>0-2 (3)</a:t>
            </a:r>
          </a:p>
          <a:p>
            <a:r>
              <a:rPr lang="en-US" sz="1050" b="1" dirty="0"/>
              <a:t>4-5 (3)</a:t>
            </a:r>
          </a:p>
          <a:p>
            <a:r>
              <a:rPr lang="en-US" sz="1050" b="1" dirty="0"/>
              <a:t>1-3 (5)</a:t>
            </a:r>
          </a:p>
          <a:p>
            <a:r>
              <a:rPr lang="en-US" sz="1050" dirty="0">
                <a:solidFill>
                  <a:srgbClr val="FF0000"/>
                </a:solidFill>
              </a:rPr>
              <a:t>3-4 (6)</a:t>
            </a:r>
          </a:p>
          <a:p>
            <a:r>
              <a:rPr lang="en-US" sz="1050" dirty="0">
                <a:solidFill>
                  <a:srgbClr val="FF0000"/>
                </a:solidFill>
              </a:rPr>
              <a:t>0-1 (7)</a:t>
            </a:r>
          </a:p>
          <a:p>
            <a:r>
              <a:rPr lang="en-US" sz="1050" dirty="0">
                <a:solidFill>
                  <a:srgbClr val="FF0000"/>
                </a:solidFill>
              </a:rPr>
              <a:t>2-4 (8)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8EB491-8FC5-9E91-F3A4-0DEEB852477A}"/>
              </a:ext>
            </a:extLst>
          </p:cNvPr>
          <p:cNvSpPr txBox="1"/>
          <p:nvPr/>
        </p:nvSpPr>
        <p:spPr>
          <a:xfrm>
            <a:off x="247650" y="6124180"/>
            <a:ext cx="1314450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Step 4) evaluate</a:t>
            </a:r>
          </a:p>
          <a:p>
            <a:endParaRPr lang="en-US" sz="1050" dirty="0"/>
          </a:p>
          <a:p>
            <a:r>
              <a:rPr lang="en-US" sz="1050" dirty="0"/>
              <a:t>V = {0,1,2,3,4,5}</a:t>
            </a:r>
          </a:p>
          <a:p>
            <a:endParaRPr lang="en-US" sz="1050" dirty="0"/>
          </a:p>
          <a:p>
            <a:r>
              <a:rPr lang="en-US" sz="1050" dirty="0"/>
              <a:t>Edges:</a:t>
            </a:r>
          </a:p>
          <a:p>
            <a:r>
              <a:rPr lang="en-US" sz="1050" b="1" dirty="0"/>
              <a:t>2-5 (1)</a:t>
            </a:r>
          </a:p>
          <a:p>
            <a:r>
              <a:rPr lang="en-US" sz="1050" b="1" dirty="0"/>
              <a:t>1-5 (2)</a:t>
            </a:r>
          </a:p>
          <a:p>
            <a:r>
              <a:rPr lang="en-US" sz="1050" b="1" dirty="0"/>
              <a:t>0-2 (3)</a:t>
            </a:r>
          </a:p>
          <a:p>
            <a:r>
              <a:rPr lang="en-US" sz="1050" b="1" dirty="0"/>
              <a:t>4-5 (3)</a:t>
            </a:r>
          </a:p>
          <a:p>
            <a:r>
              <a:rPr lang="en-US" sz="1050" b="1" dirty="0"/>
              <a:t>1-3 (5)</a:t>
            </a:r>
          </a:p>
          <a:p>
            <a:endParaRPr lang="en-US" sz="1050" b="1" dirty="0"/>
          </a:p>
          <a:p>
            <a:r>
              <a:rPr lang="en-US" sz="1050" dirty="0"/>
              <a:t>1+2+3+3+5 = 14</a:t>
            </a:r>
          </a:p>
          <a:p>
            <a:endParaRPr lang="en-US" sz="1050" b="1" dirty="0"/>
          </a:p>
          <a:p>
            <a:r>
              <a:rPr lang="en-US" sz="1050" b="1" dirty="0"/>
              <a:t>Weight: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4" descr="08">
            <a:extLst>
              <a:ext uri="{FF2B5EF4-FFF2-40B4-BE49-F238E27FC236}">
                <a16:creationId xmlns:a16="http://schemas.microsoft.com/office/drawing/2014/main" id="{8C139698-8935-4237-9D08-07DB6B3B19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" y="990600"/>
            <a:ext cx="4038600" cy="25190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" name="Rectangle 5">
            <a:extLst>
              <a:ext uri="{FF2B5EF4-FFF2-40B4-BE49-F238E27FC236}">
                <a16:creationId xmlns:a16="http://schemas.microsoft.com/office/drawing/2014/main" id="{8D0E32BB-9F2D-4736-AA1F-A3FD6F876F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635" y="304800"/>
            <a:ext cx="5522730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350" dirty="0"/>
              <a:t>8.  Find the minimal spanning tree using the algorithm you prefer. Use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350" dirty="0"/>
              <a:t>	Minneapolis/St. Paul as the source vertex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03E21C-55F5-2AC5-0734-8D5B830E368A}"/>
              </a:ext>
            </a:extLst>
          </p:cNvPr>
          <p:cNvSpPr txBox="1"/>
          <p:nvPr/>
        </p:nvSpPr>
        <p:spPr>
          <a:xfrm>
            <a:off x="4391025" y="1221234"/>
            <a:ext cx="2247900" cy="1869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Using Prims Algorithm</a:t>
            </a:r>
          </a:p>
          <a:p>
            <a:r>
              <a:rPr lang="en-US" sz="1050" dirty="0"/>
              <a:t>Step 1) List of Edges and weights</a:t>
            </a:r>
          </a:p>
          <a:p>
            <a:endParaRPr lang="en-US" sz="1050" dirty="0"/>
          </a:p>
          <a:p>
            <a:r>
              <a:rPr lang="en-US" sz="1050" dirty="0"/>
              <a:t>Minneapolis – Des Moines (235)</a:t>
            </a:r>
          </a:p>
          <a:p>
            <a:r>
              <a:rPr lang="en-US" sz="1050" dirty="0"/>
              <a:t>Minneapolis – Madison (270)</a:t>
            </a:r>
          </a:p>
          <a:p>
            <a:r>
              <a:rPr lang="en-US" sz="1050" dirty="0"/>
              <a:t>Des Moines – St. Louis (320)</a:t>
            </a:r>
          </a:p>
          <a:p>
            <a:r>
              <a:rPr lang="en-US" sz="1050" dirty="0" err="1"/>
              <a:t>St.Louis</a:t>
            </a:r>
            <a:r>
              <a:rPr lang="en-US" sz="1050" dirty="0"/>
              <a:t> – Chicago (270)</a:t>
            </a:r>
          </a:p>
          <a:p>
            <a:r>
              <a:rPr lang="en-US" sz="1050" dirty="0"/>
              <a:t>Madison – </a:t>
            </a:r>
            <a:r>
              <a:rPr lang="en-US" sz="1050" dirty="0" err="1"/>
              <a:t>Miwaukee</a:t>
            </a:r>
            <a:r>
              <a:rPr lang="en-US" sz="1050" dirty="0"/>
              <a:t> (80)</a:t>
            </a:r>
          </a:p>
          <a:p>
            <a:r>
              <a:rPr lang="en-US" sz="1050" dirty="0"/>
              <a:t>Madison – Chicago (150)</a:t>
            </a:r>
          </a:p>
          <a:p>
            <a:r>
              <a:rPr lang="en-US" sz="1050" dirty="0"/>
              <a:t>Milwaukee – Chicago (95)</a:t>
            </a:r>
          </a:p>
          <a:p>
            <a:r>
              <a:rPr lang="en-US" sz="1050" dirty="0"/>
              <a:t>Chicago – Detroit (280)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4CF4EE-EF99-1361-76DC-C3C76DE77475}"/>
              </a:ext>
            </a:extLst>
          </p:cNvPr>
          <p:cNvSpPr txBox="1"/>
          <p:nvPr/>
        </p:nvSpPr>
        <p:spPr>
          <a:xfrm>
            <a:off x="57150" y="3542729"/>
            <a:ext cx="2247900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Using Prims Algorithm</a:t>
            </a:r>
          </a:p>
          <a:p>
            <a:r>
              <a:rPr lang="en-US" sz="1050" dirty="0"/>
              <a:t>Step 2 Start)</a:t>
            </a:r>
          </a:p>
          <a:p>
            <a:endParaRPr lang="en-US" sz="1050" dirty="0"/>
          </a:p>
          <a:p>
            <a:r>
              <a:rPr lang="en-US" sz="1050" dirty="0"/>
              <a:t>V(T) = {Minneapolis}</a:t>
            </a:r>
          </a:p>
          <a:p>
            <a:r>
              <a:rPr lang="en-US" sz="1050" dirty="0"/>
              <a:t>E(T) =  {}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4CFD14-7FE9-2F43-C96C-0382FB076373}"/>
              </a:ext>
            </a:extLst>
          </p:cNvPr>
          <p:cNvSpPr txBox="1"/>
          <p:nvPr/>
        </p:nvSpPr>
        <p:spPr>
          <a:xfrm>
            <a:off x="1828800" y="3613709"/>
            <a:ext cx="22479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Step 2.1 Continued)</a:t>
            </a:r>
          </a:p>
          <a:p>
            <a:endParaRPr lang="en-US" sz="1050" dirty="0"/>
          </a:p>
          <a:p>
            <a:r>
              <a:rPr lang="en-US" sz="1050" dirty="0"/>
              <a:t>V(T) = {</a:t>
            </a:r>
            <a:r>
              <a:rPr lang="en-US" sz="1050" dirty="0" err="1"/>
              <a:t>Minneapolis,Des</a:t>
            </a:r>
            <a:r>
              <a:rPr lang="en-US" sz="1050" dirty="0"/>
              <a:t> Moines}</a:t>
            </a:r>
          </a:p>
          <a:p>
            <a:r>
              <a:rPr lang="en-US" sz="1050" dirty="0"/>
              <a:t>E(T) =  {(</a:t>
            </a:r>
            <a:r>
              <a:rPr lang="en-US" sz="1050" dirty="0" err="1"/>
              <a:t>Minneapolis,Des</a:t>
            </a:r>
            <a:r>
              <a:rPr lang="en-US" sz="1050" dirty="0"/>
              <a:t> Moines), 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4F6210-F710-2961-9B4E-6AA78A09E96D}"/>
              </a:ext>
            </a:extLst>
          </p:cNvPr>
          <p:cNvSpPr txBox="1"/>
          <p:nvPr/>
        </p:nvSpPr>
        <p:spPr>
          <a:xfrm>
            <a:off x="4391025" y="3523527"/>
            <a:ext cx="2247900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Step 2.2 Continued)</a:t>
            </a:r>
          </a:p>
          <a:p>
            <a:endParaRPr lang="en-US" sz="1050" dirty="0"/>
          </a:p>
          <a:p>
            <a:r>
              <a:rPr lang="en-US" sz="1050" dirty="0"/>
              <a:t>V(T) = {Minneapolis, Des Moines, Madison}</a:t>
            </a:r>
          </a:p>
          <a:p>
            <a:r>
              <a:rPr lang="en-US" sz="1050" dirty="0"/>
              <a:t>E(T) =  {(</a:t>
            </a:r>
            <a:r>
              <a:rPr lang="en-US" sz="1050" dirty="0" err="1"/>
              <a:t>Minneapolis,Des</a:t>
            </a:r>
            <a:r>
              <a:rPr lang="en-US" sz="1050" dirty="0"/>
              <a:t> Moines), (</a:t>
            </a:r>
            <a:r>
              <a:rPr lang="en-US" sz="1050" dirty="0" err="1"/>
              <a:t>Minneapolis,Madison</a:t>
            </a:r>
            <a:r>
              <a:rPr lang="en-US" sz="1050" dirty="0"/>
              <a:t>)}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AEACBE-9B92-2804-77B1-F4BE451F5D6E}"/>
              </a:ext>
            </a:extLst>
          </p:cNvPr>
          <p:cNvSpPr txBox="1"/>
          <p:nvPr/>
        </p:nvSpPr>
        <p:spPr>
          <a:xfrm>
            <a:off x="219075" y="4581525"/>
            <a:ext cx="2790825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Step 2.3 Continued)</a:t>
            </a:r>
          </a:p>
          <a:p>
            <a:endParaRPr lang="en-US" sz="1050" dirty="0"/>
          </a:p>
          <a:p>
            <a:r>
              <a:rPr lang="en-US" sz="1050" dirty="0"/>
              <a:t>V(T) = {Minneapolis, Des Moines, </a:t>
            </a:r>
            <a:r>
              <a:rPr lang="en-US" sz="1050" dirty="0" err="1"/>
              <a:t>Madison,Milwaukee</a:t>
            </a:r>
            <a:r>
              <a:rPr lang="en-US" sz="1050" dirty="0"/>
              <a:t>}</a:t>
            </a:r>
          </a:p>
          <a:p>
            <a:r>
              <a:rPr lang="en-US" sz="1050" dirty="0"/>
              <a:t>E(T) =  {(</a:t>
            </a:r>
            <a:r>
              <a:rPr lang="en-US" sz="1050" dirty="0" err="1"/>
              <a:t>Minneapolis,Des</a:t>
            </a:r>
            <a:r>
              <a:rPr lang="en-US" sz="1050" dirty="0"/>
              <a:t> Moines), (</a:t>
            </a:r>
            <a:r>
              <a:rPr lang="en-US" sz="1050" dirty="0" err="1"/>
              <a:t>Minneapolis,Madison</a:t>
            </a:r>
            <a:r>
              <a:rPr lang="en-US" sz="1050" dirty="0"/>
              <a:t>),(</a:t>
            </a:r>
            <a:r>
              <a:rPr lang="en-US" sz="1050" dirty="0" err="1"/>
              <a:t>Madison,Milwaukee</a:t>
            </a:r>
            <a:r>
              <a:rPr lang="en-US" sz="1050" dirty="0"/>
              <a:t>)}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26C1A5-4DD5-5F3B-FE42-B67FD2F76224}"/>
              </a:ext>
            </a:extLst>
          </p:cNvPr>
          <p:cNvSpPr txBox="1"/>
          <p:nvPr/>
        </p:nvSpPr>
        <p:spPr>
          <a:xfrm>
            <a:off x="3399540" y="4581525"/>
            <a:ext cx="2790825" cy="12234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Step 2.4 Continued)</a:t>
            </a:r>
          </a:p>
          <a:p>
            <a:endParaRPr lang="en-US" sz="1050" dirty="0"/>
          </a:p>
          <a:p>
            <a:r>
              <a:rPr lang="en-US" sz="1050" dirty="0"/>
              <a:t>V(T) = {Minneapolis, Des Moines, </a:t>
            </a:r>
            <a:r>
              <a:rPr lang="en-US" sz="1050" dirty="0" err="1"/>
              <a:t>Madison,Milwaukee,Chicago</a:t>
            </a:r>
            <a:r>
              <a:rPr lang="en-US" sz="1050" dirty="0"/>
              <a:t>}</a:t>
            </a:r>
          </a:p>
          <a:p>
            <a:r>
              <a:rPr lang="en-US" sz="1050" dirty="0"/>
              <a:t>E(T) =  {(</a:t>
            </a:r>
            <a:r>
              <a:rPr lang="en-US" sz="1050" dirty="0" err="1"/>
              <a:t>Minneapolis,Des</a:t>
            </a:r>
            <a:r>
              <a:rPr lang="en-US" sz="1050" dirty="0"/>
              <a:t> Moines), (</a:t>
            </a:r>
            <a:r>
              <a:rPr lang="en-US" sz="1050" dirty="0" err="1"/>
              <a:t>Minneapolis,Madison</a:t>
            </a:r>
            <a:r>
              <a:rPr lang="en-US" sz="1050" dirty="0"/>
              <a:t>),(</a:t>
            </a:r>
            <a:r>
              <a:rPr lang="en-US" sz="1050" dirty="0" err="1"/>
              <a:t>Madison,Milwaukee</a:t>
            </a:r>
            <a:r>
              <a:rPr lang="en-US" sz="1050" dirty="0"/>
              <a:t>),</a:t>
            </a:r>
          </a:p>
          <a:p>
            <a:r>
              <a:rPr lang="en-US" sz="1050" dirty="0"/>
              <a:t>(</a:t>
            </a:r>
            <a:r>
              <a:rPr lang="en-US" sz="1050" dirty="0" err="1"/>
              <a:t>Milwaukee,Chicago</a:t>
            </a:r>
            <a:r>
              <a:rPr lang="en-US" sz="1050" dirty="0"/>
              <a:t>)}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D9D64C-A5B4-EDA9-FDC6-CD5C7544F56F}"/>
              </a:ext>
            </a:extLst>
          </p:cNvPr>
          <p:cNvSpPr txBox="1"/>
          <p:nvPr/>
        </p:nvSpPr>
        <p:spPr>
          <a:xfrm>
            <a:off x="114300" y="5872506"/>
            <a:ext cx="2790825" cy="12234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Step 2.5 Continued)</a:t>
            </a:r>
          </a:p>
          <a:p>
            <a:endParaRPr lang="en-US" sz="1050" dirty="0"/>
          </a:p>
          <a:p>
            <a:r>
              <a:rPr lang="en-US" sz="1050" dirty="0"/>
              <a:t>V(T) = {Minneapolis, Des Moines, </a:t>
            </a:r>
            <a:r>
              <a:rPr lang="en-US" sz="1050" dirty="0" err="1"/>
              <a:t>Madison,Milwaukee,Chicago,St.Louis</a:t>
            </a:r>
            <a:r>
              <a:rPr lang="en-US" sz="1050" dirty="0"/>
              <a:t>}</a:t>
            </a:r>
          </a:p>
          <a:p>
            <a:r>
              <a:rPr lang="en-US" sz="1050" dirty="0"/>
              <a:t>E(T) =  {(</a:t>
            </a:r>
            <a:r>
              <a:rPr lang="en-US" sz="1050" dirty="0" err="1"/>
              <a:t>Minneapolis,Des</a:t>
            </a:r>
            <a:r>
              <a:rPr lang="en-US" sz="1050" dirty="0"/>
              <a:t> Moines), (</a:t>
            </a:r>
            <a:r>
              <a:rPr lang="en-US" sz="1050" dirty="0" err="1"/>
              <a:t>Minneapolis,Madison</a:t>
            </a:r>
            <a:r>
              <a:rPr lang="en-US" sz="1050" dirty="0"/>
              <a:t>),(</a:t>
            </a:r>
            <a:r>
              <a:rPr lang="en-US" sz="1050" dirty="0" err="1"/>
              <a:t>Madison,Milwaukee</a:t>
            </a:r>
            <a:r>
              <a:rPr lang="en-US" sz="1050" dirty="0"/>
              <a:t>),</a:t>
            </a:r>
          </a:p>
          <a:p>
            <a:r>
              <a:rPr lang="en-US" sz="1050" dirty="0"/>
              <a:t>(</a:t>
            </a:r>
            <a:r>
              <a:rPr lang="en-US" sz="1050" dirty="0" err="1"/>
              <a:t>Milwaukee,Chicago</a:t>
            </a:r>
            <a:r>
              <a:rPr lang="en-US" sz="1050" dirty="0"/>
              <a:t>),(</a:t>
            </a:r>
            <a:r>
              <a:rPr lang="en-US" sz="1050" dirty="0" err="1"/>
              <a:t>Chicago,St.Louis</a:t>
            </a:r>
            <a:r>
              <a:rPr lang="en-US" sz="1050" dirty="0"/>
              <a:t>)}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AE3C0B-BE36-FA3E-1669-07CCC074D81B}"/>
              </a:ext>
            </a:extLst>
          </p:cNvPr>
          <p:cNvSpPr txBox="1"/>
          <p:nvPr/>
        </p:nvSpPr>
        <p:spPr>
          <a:xfrm>
            <a:off x="3124200" y="5901081"/>
            <a:ext cx="3733800" cy="12234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Step 2.6 Final)</a:t>
            </a:r>
          </a:p>
          <a:p>
            <a:endParaRPr lang="en-US" sz="1050" dirty="0"/>
          </a:p>
          <a:p>
            <a:r>
              <a:rPr lang="en-US" sz="1050" dirty="0"/>
              <a:t>V(T) = {Minneapolis, Des Moines, </a:t>
            </a:r>
            <a:r>
              <a:rPr lang="en-US" sz="1050" dirty="0" err="1"/>
              <a:t>Madison,Milwaukee,Chicago,St.Louis,Detroit</a:t>
            </a:r>
            <a:r>
              <a:rPr lang="en-US" sz="1050" dirty="0"/>
              <a:t>}</a:t>
            </a:r>
          </a:p>
          <a:p>
            <a:r>
              <a:rPr lang="en-US" sz="1050" dirty="0"/>
              <a:t>E(T) =  {(</a:t>
            </a:r>
            <a:r>
              <a:rPr lang="en-US" sz="1050" dirty="0" err="1"/>
              <a:t>Minneapolis,Des</a:t>
            </a:r>
            <a:r>
              <a:rPr lang="en-US" sz="1050" dirty="0"/>
              <a:t> Moines), (</a:t>
            </a:r>
            <a:r>
              <a:rPr lang="en-US" sz="1050" dirty="0" err="1"/>
              <a:t>Minneapolis,Madison</a:t>
            </a:r>
            <a:r>
              <a:rPr lang="en-US" sz="1050" dirty="0"/>
              <a:t>),(</a:t>
            </a:r>
            <a:r>
              <a:rPr lang="en-US" sz="1050" dirty="0" err="1"/>
              <a:t>Madison,Milwaukee</a:t>
            </a:r>
            <a:r>
              <a:rPr lang="en-US" sz="1050" dirty="0"/>
              <a:t>),</a:t>
            </a:r>
          </a:p>
          <a:p>
            <a:r>
              <a:rPr lang="en-US" sz="1050" dirty="0"/>
              <a:t>(</a:t>
            </a:r>
            <a:r>
              <a:rPr lang="en-US" sz="1050" dirty="0" err="1"/>
              <a:t>Milwaukee,Chicago</a:t>
            </a:r>
            <a:r>
              <a:rPr lang="en-US" sz="1050" dirty="0"/>
              <a:t>),(</a:t>
            </a:r>
            <a:r>
              <a:rPr lang="en-US" sz="1050" dirty="0" err="1"/>
              <a:t>Chicago,St.Louis</a:t>
            </a:r>
            <a:r>
              <a:rPr lang="en-US" sz="1050" dirty="0"/>
              <a:t>),(</a:t>
            </a:r>
            <a:r>
              <a:rPr lang="en-US" sz="1050" dirty="0" err="1"/>
              <a:t>Chicago,Detroit</a:t>
            </a:r>
            <a:r>
              <a:rPr lang="en-US" sz="1050" dirty="0"/>
              <a:t>)}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4DDCF6-D0F4-3CBE-63F8-796495220F48}"/>
              </a:ext>
            </a:extLst>
          </p:cNvPr>
          <p:cNvSpPr txBox="1"/>
          <p:nvPr/>
        </p:nvSpPr>
        <p:spPr>
          <a:xfrm>
            <a:off x="114300" y="7547744"/>
            <a:ext cx="2600325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/>
              <a:t>Step 3 Evaluate Weights)</a:t>
            </a:r>
          </a:p>
          <a:p>
            <a:endParaRPr lang="en-US" sz="1050" b="1" dirty="0"/>
          </a:p>
          <a:p>
            <a:r>
              <a:rPr lang="en-US" sz="1050" b="1" dirty="0"/>
              <a:t>Weight = 1230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3E09F3-9088-E4C7-8BD5-02F0D1100D21}"/>
              </a:ext>
            </a:extLst>
          </p:cNvPr>
          <p:cNvSpPr txBox="1"/>
          <p:nvPr/>
        </p:nvSpPr>
        <p:spPr>
          <a:xfrm>
            <a:off x="3276600" y="7220637"/>
            <a:ext cx="2600326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/>
              <a:t>Step 4 MST)</a:t>
            </a:r>
          </a:p>
          <a:p>
            <a:endParaRPr lang="en-US" sz="1050" b="1" dirty="0"/>
          </a:p>
          <a:p>
            <a:r>
              <a:rPr lang="en-US" sz="1050" b="1" dirty="0"/>
              <a:t>Edges:</a:t>
            </a:r>
          </a:p>
          <a:p>
            <a:r>
              <a:rPr lang="en-US" sz="1050" dirty="0"/>
              <a:t>Minneapolis – Des Moines (235)</a:t>
            </a:r>
          </a:p>
          <a:p>
            <a:r>
              <a:rPr lang="en-US" sz="1050" dirty="0"/>
              <a:t>Minneapolis – Madison (270)</a:t>
            </a:r>
          </a:p>
          <a:p>
            <a:r>
              <a:rPr lang="en-US" sz="1050" dirty="0"/>
              <a:t>Madison – Milwaukee (80)</a:t>
            </a:r>
          </a:p>
          <a:p>
            <a:r>
              <a:rPr lang="en-US" sz="1050" dirty="0"/>
              <a:t>Milwaukee – Chicago (95)</a:t>
            </a:r>
          </a:p>
          <a:p>
            <a:r>
              <a:rPr lang="en-US" sz="1050" dirty="0"/>
              <a:t>Chicago – </a:t>
            </a:r>
            <a:r>
              <a:rPr lang="en-US" sz="1050" dirty="0" err="1"/>
              <a:t>St.Louis</a:t>
            </a:r>
            <a:r>
              <a:rPr lang="en-US" sz="1050" dirty="0"/>
              <a:t> (270)</a:t>
            </a:r>
          </a:p>
          <a:p>
            <a:r>
              <a:rPr lang="en-US" sz="1050" dirty="0"/>
              <a:t>Chicago – Detroit (280)</a:t>
            </a:r>
          </a:p>
          <a:p>
            <a:endParaRPr lang="en-US" sz="1050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Text Box 5">
            <a:extLst>
              <a:ext uri="{FF2B5EF4-FFF2-40B4-BE49-F238E27FC236}">
                <a16:creationId xmlns:a16="http://schemas.microsoft.com/office/drawing/2014/main" id="{80443669-B4DB-4504-ACF5-BCC233134B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899" y="533400"/>
            <a:ext cx="6138219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350" dirty="0"/>
              <a:t>9. List the nodes of the graph in a breadth first topological ordering.  Show the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350" dirty="0"/>
              <a:t>     steps using arrays predCount, topologicalOrder and a queue</a:t>
            </a:r>
          </a:p>
        </p:txBody>
      </p:sp>
      <p:sp>
        <p:nvSpPr>
          <p:cNvPr id="5127" name="Rectangle 10">
            <a:extLst>
              <a:ext uri="{FF2B5EF4-FFF2-40B4-BE49-F238E27FC236}">
                <a16:creationId xmlns:a16="http://schemas.microsoft.com/office/drawing/2014/main" id="{C6B0D4E7-088E-4AFF-8702-57CBB2E7E1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304800"/>
            <a:ext cx="2571750" cy="228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35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CAFEBF-6A63-4870-9BDF-00EB301F68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862" y="1069806"/>
            <a:ext cx="3962400" cy="2492477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A78489B-71DC-E5BA-F23A-53648A5831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4282666"/>
              </p:ext>
            </p:extLst>
          </p:nvPr>
        </p:nvGraphicFramePr>
        <p:xfrm>
          <a:off x="835795" y="3308073"/>
          <a:ext cx="239616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9616">
                  <a:extLst>
                    <a:ext uri="{9D8B030D-6E8A-4147-A177-3AD203B41FA5}">
                      <a16:colId xmlns:a16="http://schemas.microsoft.com/office/drawing/2014/main" val="2204751709"/>
                    </a:ext>
                  </a:extLst>
                </a:gridCol>
                <a:gridCol w="239616">
                  <a:extLst>
                    <a:ext uri="{9D8B030D-6E8A-4147-A177-3AD203B41FA5}">
                      <a16:colId xmlns:a16="http://schemas.microsoft.com/office/drawing/2014/main" val="2902808483"/>
                    </a:ext>
                  </a:extLst>
                </a:gridCol>
                <a:gridCol w="239616">
                  <a:extLst>
                    <a:ext uri="{9D8B030D-6E8A-4147-A177-3AD203B41FA5}">
                      <a16:colId xmlns:a16="http://schemas.microsoft.com/office/drawing/2014/main" val="4035983872"/>
                    </a:ext>
                  </a:extLst>
                </a:gridCol>
                <a:gridCol w="239616">
                  <a:extLst>
                    <a:ext uri="{9D8B030D-6E8A-4147-A177-3AD203B41FA5}">
                      <a16:colId xmlns:a16="http://schemas.microsoft.com/office/drawing/2014/main" val="862770784"/>
                    </a:ext>
                  </a:extLst>
                </a:gridCol>
                <a:gridCol w="239616">
                  <a:extLst>
                    <a:ext uri="{9D8B030D-6E8A-4147-A177-3AD203B41FA5}">
                      <a16:colId xmlns:a16="http://schemas.microsoft.com/office/drawing/2014/main" val="2586353873"/>
                    </a:ext>
                  </a:extLst>
                </a:gridCol>
                <a:gridCol w="239616">
                  <a:extLst>
                    <a:ext uri="{9D8B030D-6E8A-4147-A177-3AD203B41FA5}">
                      <a16:colId xmlns:a16="http://schemas.microsoft.com/office/drawing/2014/main" val="918255752"/>
                    </a:ext>
                  </a:extLst>
                </a:gridCol>
                <a:gridCol w="239616">
                  <a:extLst>
                    <a:ext uri="{9D8B030D-6E8A-4147-A177-3AD203B41FA5}">
                      <a16:colId xmlns:a16="http://schemas.microsoft.com/office/drawing/2014/main" val="770663840"/>
                    </a:ext>
                  </a:extLst>
                </a:gridCol>
                <a:gridCol w="239616">
                  <a:extLst>
                    <a:ext uri="{9D8B030D-6E8A-4147-A177-3AD203B41FA5}">
                      <a16:colId xmlns:a16="http://schemas.microsoft.com/office/drawing/2014/main" val="2998568997"/>
                    </a:ext>
                  </a:extLst>
                </a:gridCol>
                <a:gridCol w="239616">
                  <a:extLst>
                    <a:ext uri="{9D8B030D-6E8A-4147-A177-3AD203B41FA5}">
                      <a16:colId xmlns:a16="http://schemas.microsoft.com/office/drawing/2014/main" val="4127236049"/>
                    </a:ext>
                  </a:extLst>
                </a:gridCol>
                <a:gridCol w="239616">
                  <a:extLst>
                    <a:ext uri="{9D8B030D-6E8A-4147-A177-3AD203B41FA5}">
                      <a16:colId xmlns:a16="http://schemas.microsoft.com/office/drawing/2014/main" val="1455863004"/>
                    </a:ext>
                  </a:extLst>
                </a:gridCol>
              </a:tblGrid>
              <a:tr h="363692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723491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EFEADE94-E540-B4CE-701D-008D70FB34F2}"/>
              </a:ext>
            </a:extLst>
          </p:cNvPr>
          <p:cNvSpPr txBox="1"/>
          <p:nvPr/>
        </p:nvSpPr>
        <p:spPr>
          <a:xfrm>
            <a:off x="-9893" y="3362808"/>
            <a:ext cx="9175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predCount</a:t>
            </a:r>
            <a:endParaRPr lang="en-US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228ACB-41BC-61AC-7EE3-1A06D5D80A09}"/>
              </a:ext>
            </a:extLst>
          </p:cNvPr>
          <p:cNvSpPr txBox="1"/>
          <p:nvPr/>
        </p:nvSpPr>
        <p:spPr>
          <a:xfrm>
            <a:off x="-35595" y="3704643"/>
            <a:ext cx="9689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topologicalOrder</a:t>
            </a:r>
            <a:endParaRPr lang="en-US" sz="12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EDAEEB3-9B8B-ED78-6159-AD91583C66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5568957"/>
              </p:ext>
            </p:extLst>
          </p:nvPr>
        </p:nvGraphicFramePr>
        <p:xfrm>
          <a:off x="829622" y="3737281"/>
          <a:ext cx="239616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9616">
                  <a:extLst>
                    <a:ext uri="{9D8B030D-6E8A-4147-A177-3AD203B41FA5}">
                      <a16:colId xmlns:a16="http://schemas.microsoft.com/office/drawing/2014/main" val="2204751709"/>
                    </a:ext>
                  </a:extLst>
                </a:gridCol>
                <a:gridCol w="239616">
                  <a:extLst>
                    <a:ext uri="{9D8B030D-6E8A-4147-A177-3AD203B41FA5}">
                      <a16:colId xmlns:a16="http://schemas.microsoft.com/office/drawing/2014/main" val="2902808483"/>
                    </a:ext>
                  </a:extLst>
                </a:gridCol>
                <a:gridCol w="239616">
                  <a:extLst>
                    <a:ext uri="{9D8B030D-6E8A-4147-A177-3AD203B41FA5}">
                      <a16:colId xmlns:a16="http://schemas.microsoft.com/office/drawing/2014/main" val="4035983872"/>
                    </a:ext>
                  </a:extLst>
                </a:gridCol>
                <a:gridCol w="239616">
                  <a:extLst>
                    <a:ext uri="{9D8B030D-6E8A-4147-A177-3AD203B41FA5}">
                      <a16:colId xmlns:a16="http://schemas.microsoft.com/office/drawing/2014/main" val="862770784"/>
                    </a:ext>
                  </a:extLst>
                </a:gridCol>
                <a:gridCol w="239616">
                  <a:extLst>
                    <a:ext uri="{9D8B030D-6E8A-4147-A177-3AD203B41FA5}">
                      <a16:colId xmlns:a16="http://schemas.microsoft.com/office/drawing/2014/main" val="2586353873"/>
                    </a:ext>
                  </a:extLst>
                </a:gridCol>
                <a:gridCol w="239616">
                  <a:extLst>
                    <a:ext uri="{9D8B030D-6E8A-4147-A177-3AD203B41FA5}">
                      <a16:colId xmlns:a16="http://schemas.microsoft.com/office/drawing/2014/main" val="918255752"/>
                    </a:ext>
                  </a:extLst>
                </a:gridCol>
                <a:gridCol w="239616">
                  <a:extLst>
                    <a:ext uri="{9D8B030D-6E8A-4147-A177-3AD203B41FA5}">
                      <a16:colId xmlns:a16="http://schemas.microsoft.com/office/drawing/2014/main" val="770663840"/>
                    </a:ext>
                  </a:extLst>
                </a:gridCol>
                <a:gridCol w="239616">
                  <a:extLst>
                    <a:ext uri="{9D8B030D-6E8A-4147-A177-3AD203B41FA5}">
                      <a16:colId xmlns:a16="http://schemas.microsoft.com/office/drawing/2014/main" val="2998568997"/>
                    </a:ext>
                  </a:extLst>
                </a:gridCol>
                <a:gridCol w="239616">
                  <a:extLst>
                    <a:ext uri="{9D8B030D-6E8A-4147-A177-3AD203B41FA5}">
                      <a16:colId xmlns:a16="http://schemas.microsoft.com/office/drawing/2014/main" val="4127236049"/>
                    </a:ext>
                  </a:extLst>
                </a:gridCol>
                <a:gridCol w="239616">
                  <a:extLst>
                    <a:ext uri="{9D8B030D-6E8A-4147-A177-3AD203B41FA5}">
                      <a16:colId xmlns:a16="http://schemas.microsoft.com/office/drawing/2014/main" val="1455863004"/>
                    </a:ext>
                  </a:extLst>
                </a:gridCol>
              </a:tblGrid>
              <a:tr h="30222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723491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869E4365-0E9C-12F8-6C09-6AB13A9CFE92}"/>
              </a:ext>
            </a:extLst>
          </p:cNvPr>
          <p:cNvSpPr txBox="1"/>
          <p:nvPr/>
        </p:nvSpPr>
        <p:spPr>
          <a:xfrm>
            <a:off x="0" y="4179413"/>
            <a:ext cx="3429000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Queue:            [0,7]</a:t>
            </a:r>
            <a:endParaRPr lang="en-US" sz="1400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8CC312E-B26A-874A-10E5-DB3D4D1BED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0568675"/>
              </p:ext>
            </p:extLst>
          </p:nvPr>
        </p:nvGraphicFramePr>
        <p:xfrm>
          <a:off x="873387" y="4662010"/>
          <a:ext cx="246735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6735">
                  <a:extLst>
                    <a:ext uri="{9D8B030D-6E8A-4147-A177-3AD203B41FA5}">
                      <a16:colId xmlns:a16="http://schemas.microsoft.com/office/drawing/2014/main" val="2204751709"/>
                    </a:ext>
                  </a:extLst>
                </a:gridCol>
                <a:gridCol w="246735">
                  <a:extLst>
                    <a:ext uri="{9D8B030D-6E8A-4147-A177-3AD203B41FA5}">
                      <a16:colId xmlns:a16="http://schemas.microsoft.com/office/drawing/2014/main" val="2902808483"/>
                    </a:ext>
                  </a:extLst>
                </a:gridCol>
                <a:gridCol w="246735">
                  <a:extLst>
                    <a:ext uri="{9D8B030D-6E8A-4147-A177-3AD203B41FA5}">
                      <a16:colId xmlns:a16="http://schemas.microsoft.com/office/drawing/2014/main" val="4035983872"/>
                    </a:ext>
                  </a:extLst>
                </a:gridCol>
                <a:gridCol w="246735">
                  <a:extLst>
                    <a:ext uri="{9D8B030D-6E8A-4147-A177-3AD203B41FA5}">
                      <a16:colId xmlns:a16="http://schemas.microsoft.com/office/drawing/2014/main" val="862770784"/>
                    </a:ext>
                  </a:extLst>
                </a:gridCol>
                <a:gridCol w="246735">
                  <a:extLst>
                    <a:ext uri="{9D8B030D-6E8A-4147-A177-3AD203B41FA5}">
                      <a16:colId xmlns:a16="http://schemas.microsoft.com/office/drawing/2014/main" val="2586353873"/>
                    </a:ext>
                  </a:extLst>
                </a:gridCol>
                <a:gridCol w="246735">
                  <a:extLst>
                    <a:ext uri="{9D8B030D-6E8A-4147-A177-3AD203B41FA5}">
                      <a16:colId xmlns:a16="http://schemas.microsoft.com/office/drawing/2014/main" val="918255752"/>
                    </a:ext>
                  </a:extLst>
                </a:gridCol>
                <a:gridCol w="246735">
                  <a:extLst>
                    <a:ext uri="{9D8B030D-6E8A-4147-A177-3AD203B41FA5}">
                      <a16:colId xmlns:a16="http://schemas.microsoft.com/office/drawing/2014/main" val="770663840"/>
                    </a:ext>
                  </a:extLst>
                </a:gridCol>
                <a:gridCol w="246735">
                  <a:extLst>
                    <a:ext uri="{9D8B030D-6E8A-4147-A177-3AD203B41FA5}">
                      <a16:colId xmlns:a16="http://schemas.microsoft.com/office/drawing/2014/main" val="2998568997"/>
                    </a:ext>
                  </a:extLst>
                </a:gridCol>
                <a:gridCol w="257375">
                  <a:extLst>
                    <a:ext uri="{9D8B030D-6E8A-4147-A177-3AD203B41FA5}">
                      <a16:colId xmlns:a16="http://schemas.microsoft.com/office/drawing/2014/main" val="4127236049"/>
                    </a:ext>
                  </a:extLst>
                </a:gridCol>
                <a:gridCol w="236095">
                  <a:extLst>
                    <a:ext uri="{9D8B030D-6E8A-4147-A177-3AD203B41FA5}">
                      <a16:colId xmlns:a16="http://schemas.microsoft.com/office/drawing/2014/main" val="1455863004"/>
                    </a:ext>
                  </a:extLst>
                </a:gridCol>
              </a:tblGrid>
              <a:tr h="271586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7234915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28DB1005-2E62-11C6-64A9-531FD6D966D9}"/>
              </a:ext>
            </a:extLst>
          </p:cNvPr>
          <p:cNvSpPr txBox="1"/>
          <p:nvPr/>
        </p:nvSpPr>
        <p:spPr>
          <a:xfrm>
            <a:off x="-35595" y="4677801"/>
            <a:ext cx="8430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predCount</a:t>
            </a:r>
            <a:endParaRPr lang="en-US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523854-F5FB-684A-DBD0-9BCE3B7BDFAB}"/>
              </a:ext>
            </a:extLst>
          </p:cNvPr>
          <p:cNvSpPr txBox="1"/>
          <p:nvPr/>
        </p:nvSpPr>
        <p:spPr>
          <a:xfrm>
            <a:off x="-31774" y="5103057"/>
            <a:ext cx="8899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topologicalOrder</a:t>
            </a:r>
            <a:endParaRPr lang="en-US" sz="1200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20D50A5D-3125-6FDD-5D72-588A359DF0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5365810"/>
              </p:ext>
            </p:extLst>
          </p:nvPr>
        </p:nvGraphicFramePr>
        <p:xfrm>
          <a:off x="837824" y="5213752"/>
          <a:ext cx="246735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6735">
                  <a:extLst>
                    <a:ext uri="{9D8B030D-6E8A-4147-A177-3AD203B41FA5}">
                      <a16:colId xmlns:a16="http://schemas.microsoft.com/office/drawing/2014/main" val="2204751709"/>
                    </a:ext>
                  </a:extLst>
                </a:gridCol>
                <a:gridCol w="246735">
                  <a:extLst>
                    <a:ext uri="{9D8B030D-6E8A-4147-A177-3AD203B41FA5}">
                      <a16:colId xmlns:a16="http://schemas.microsoft.com/office/drawing/2014/main" val="2902808483"/>
                    </a:ext>
                  </a:extLst>
                </a:gridCol>
                <a:gridCol w="246735">
                  <a:extLst>
                    <a:ext uri="{9D8B030D-6E8A-4147-A177-3AD203B41FA5}">
                      <a16:colId xmlns:a16="http://schemas.microsoft.com/office/drawing/2014/main" val="4035983872"/>
                    </a:ext>
                  </a:extLst>
                </a:gridCol>
                <a:gridCol w="246735">
                  <a:extLst>
                    <a:ext uri="{9D8B030D-6E8A-4147-A177-3AD203B41FA5}">
                      <a16:colId xmlns:a16="http://schemas.microsoft.com/office/drawing/2014/main" val="862770784"/>
                    </a:ext>
                  </a:extLst>
                </a:gridCol>
                <a:gridCol w="246735">
                  <a:extLst>
                    <a:ext uri="{9D8B030D-6E8A-4147-A177-3AD203B41FA5}">
                      <a16:colId xmlns:a16="http://schemas.microsoft.com/office/drawing/2014/main" val="2586353873"/>
                    </a:ext>
                  </a:extLst>
                </a:gridCol>
                <a:gridCol w="246735">
                  <a:extLst>
                    <a:ext uri="{9D8B030D-6E8A-4147-A177-3AD203B41FA5}">
                      <a16:colId xmlns:a16="http://schemas.microsoft.com/office/drawing/2014/main" val="918255752"/>
                    </a:ext>
                  </a:extLst>
                </a:gridCol>
                <a:gridCol w="246735">
                  <a:extLst>
                    <a:ext uri="{9D8B030D-6E8A-4147-A177-3AD203B41FA5}">
                      <a16:colId xmlns:a16="http://schemas.microsoft.com/office/drawing/2014/main" val="770663840"/>
                    </a:ext>
                  </a:extLst>
                </a:gridCol>
                <a:gridCol w="246735">
                  <a:extLst>
                    <a:ext uri="{9D8B030D-6E8A-4147-A177-3AD203B41FA5}">
                      <a16:colId xmlns:a16="http://schemas.microsoft.com/office/drawing/2014/main" val="2998568997"/>
                    </a:ext>
                  </a:extLst>
                </a:gridCol>
                <a:gridCol w="246735">
                  <a:extLst>
                    <a:ext uri="{9D8B030D-6E8A-4147-A177-3AD203B41FA5}">
                      <a16:colId xmlns:a16="http://schemas.microsoft.com/office/drawing/2014/main" val="4127236049"/>
                    </a:ext>
                  </a:extLst>
                </a:gridCol>
                <a:gridCol w="246735">
                  <a:extLst>
                    <a:ext uri="{9D8B030D-6E8A-4147-A177-3AD203B41FA5}">
                      <a16:colId xmlns:a16="http://schemas.microsoft.com/office/drawing/2014/main" val="1455863004"/>
                    </a:ext>
                  </a:extLst>
                </a:gridCol>
              </a:tblGrid>
              <a:tr h="250004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7234915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A2643C5D-882C-B023-C602-5531B218D2E0}"/>
              </a:ext>
            </a:extLst>
          </p:cNvPr>
          <p:cNvSpPr txBox="1"/>
          <p:nvPr/>
        </p:nvSpPr>
        <p:spPr>
          <a:xfrm>
            <a:off x="21090" y="5662050"/>
            <a:ext cx="3150737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Queue:            [7,1]</a:t>
            </a:r>
            <a:endParaRPr lang="en-US" sz="1400" dirty="0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D9972C36-40BD-DF79-C407-7F6147C15D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3363749"/>
              </p:ext>
            </p:extLst>
          </p:nvPr>
        </p:nvGraphicFramePr>
        <p:xfrm>
          <a:off x="794027" y="6094421"/>
          <a:ext cx="246735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6735">
                  <a:extLst>
                    <a:ext uri="{9D8B030D-6E8A-4147-A177-3AD203B41FA5}">
                      <a16:colId xmlns:a16="http://schemas.microsoft.com/office/drawing/2014/main" val="2204751709"/>
                    </a:ext>
                  </a:extLst>
                </a:gridCol>
                <a:gridCol w="246735">
                  <a:extLst>
                    <a:ext uri="{9D8B030D-6E8A-4147-A177-3AD203B41FA5}">
                      <a16:colId xmlns:a16="http://schemas.microsoft.com/office/drawing/2014/main" val="290280848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03598387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862770784"/>
                    </a:ext>
                  </a:extLst>
                </a:gridCol>
                <a:gridCol w="323645">
                  <a:extLst>
                    <a:ext uri="{9D8B030D-6E8A-4147-A177-3AD203B41FA5}">
                      <a16:colId xmlns:a16="http://schemas.microsoft.com/office/drawing/2014/main" val="2586353873"/>
                    </a:ext>
                  </a:extLst>
                </a:gridCol>
                <a:gridCol w="246735">
                  <a:extLst>
                    <a:ext uri="{9D8B030D-6E8A-4147-A177-3AD203B41FA5}">
                      <a16:colId xmlns:a16="http://schemas.microsoft.com/office/drawing/2014/main" val="918255752"/>
                    </a:ext>
                  </a:extLst>
                </a:gridCol>
                <a:gridCol w="246735">
                  <a:extLst>
                    <a:ext uri="{9D8B030D-6E8A-4147-A177-3AD203B41FA5}">
                      <a16:colId xmlns:a16="http://schemas.microsoft.com/office/drawing/2014/main" val="770663840"/>
                    </a:ext>
                  </a:extLst>
                </a:gridCol>
                <a:gridCol w="246735">
                  <a:extLst>
                    <a:ext uri="{9D8B030D-6E8A-4147-A177-3AD203B41FA5}">
                      <a16:colId xmlns:a16="http://schemas.microsoft.com/office/drawing/2014/main" val="2998568997"/>
                    </a:ext>
                  </a:extLst>
                </a:gridCol>
                <a:gridCol w="246735">
                  <a:extLst>
                    <a:ext uri="{9D8B030D-6E8A-4147-A177-3AD203B41FA5}">
                      <a16:colId xmlns:a16="http://schemas.microsoft.com/office/drawing/2014/main" val="4127236049"/>
                    </a:ext>
                  </a:extLst>
                </a:gridCol>
                <a:gridCol w="246735">
                  <a:extLst>
                    <a:ext uri="{9D8B030D-6E8A-4147-A177-3AD203B41FA5}">
                      <a16:colId xmlns:a16="http://schemas.microsoft.com/office/drawing/2014/main" val="1455863004"/>
                    </a:ext>
                  </a:extLst>
                </a:gridCol>
              </a:tblGrid>
              <a:tr h="271586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7234915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CA22BD0E-34E4-572E-FB75-04826B66B2BC}"/>
              </a:ext>
            </a:extLst>
          </p:cNvPr>
          <p:cNvSpPr txBox="1"/>
          <p:nvPr/>
        </p:nvSpPr>
        <p:spPr>
          <a:xfrm>
            <a:off x="-76200" y="6094421"/>
            <a:ext cx="8430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predCount</a:t>
            </a:r>
            <a:endParaRPr 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6D7F99-A1A0-209C-A0EA-173F5041D048}"/>
              </a:ext>
            </a:extLst>
          </p:cNvPr>
          <p:cNvSpPr txBox="1"/>
          <p:nvPr/>
        </p:nvSpPr>
        <p:spPr>
          <a:xfrm>
            <a:off x="-54042" y="6505056"/>
            <a:ext cx="9122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topologicalOrder</a:t>
            </a:r>
            <a:endParaRPr lang="en-US" sz="1200" dirty="0"/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7FEDD69F-5C9D-5449-FFA6-5D9DA97CAE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3578234"/>
              </p:ext>
            </p:extLst>
          </p:nvPr>
        </p:nvGraphicFramePr>
        <p:xfrm>
          <a:off x="794027" y="6505056"/>
          <a:ext cx="2574945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2287">
                  <a:extLst>
                    <a:ext uri="{9D8B030D-6E8A-4147-A177-3AD203B41FA5}">
                      <a16:colId xmlns:a16="http://schemas.microsoft.com/office/drawing/2014/main" val="2204751709"/>
                    </a:ext>
                  </a:extLst>
                </a:gridCol>
                <a:gridCol w="288778">
                  <a:extLst>
                    <a:ext uri="{9D8B030D-6E8A-4147-A177-3AD203B41FA5}">
                      <a16:colId xmlns:a16="http://schemas.microsoft.com/office/drawing/2014/main" val="2902808483"/>
                    </a:ext>
                  </a:extLst>
                </a:gridCol>
                <a:gridCol w="246735">
                  <a:extLst>
                    <a:ext uri="{9D8B030D-6E8A-4147-A177-3AD203B41FA5}">
                      <a16:colId xmlns:a16="http://schemas.microsoft.com/office/drawing/2014/main" val="4035983872"/>
                    </a:ext>
                  </a:extLst>
                </a:gridCol>
                <a:gridCol w="246735">
                  <a:extLst>
                    <a:ext uri="{9D8B030D-6E8A-4147-A177-3AD203B41FA5}">
                      <a16:colId xmlns:a16="http://schemas.microsoft.com/office/drawing/2014/main" val="862770784"/>
                    </a:ext>
                  </a:extLst>
                </a:gridCol>
                <a:gridCol w="246735">
                  <a:extLst>
                    <a:ext uri="{9D8B030D-6E8A-4147-A177-3AD203B41FA5}">
                      <a16:colId xmlns:a16="http://schemas.microsoft.com/office/drawing/2014/main" val="2586353873"/>
                    </a:ext>
                  </a:extLst>
                </a:gridCol>
                <a:gridCol w="246735">
                  <a:extLst>
                    <a:ext uri="{9D8B030D-6E8A-4147-A177-3AD203B41FA5}">
                      <a16:colId xmlns:a16="http://schemas.microsoft.com/office/drawing/2014/main" val="918255752"/>
                    </a:ext>
                  </a:extLst>
                </a:gridCol>
                <a:gridCol w="246735">
                  <a:extLst>
                    <a:ext uri="{9D8B030D-6E8A-4147-A177-3AD203B41FA5}">
                      <a16:colId xmlns:a16="http://schemas.microsoft.com/office/drawing/2014/main" val="770663840"/>
                    </a:ext>
                  </a:extLst>
                </a:gridCol>
                <a:gridCol w="246735">
                  <a:extLst>
                    <a:ext uri="{9D8B030D-6E8A-4147-A177-3AD203B41FA5}">
                      <a16:colId xmlns:a16="http://schemas.microsoft.com/office/drawing/2014/main" val="2998568997"/>
                    </a:ext>
                  </a:extLst>
                </a:gridCol>
                <a:gridCol w="246735">
                  <a:extLst>
                    <a:ext uri="{9D8B030D-6E8A-4147-A177-3AD203B41FA5}">
                      <a16:colId xmlns:a16="http://schemas.microsoft.com/office/drawing/2014/main" val="4127236049"/>
                    </a:ext>
                  </a:extLst>
                </a:gridCol>
                <a:gridCol w="246735">
                  <a:extLst>
                    <a:ext uri="{9D8B030D-6E8A-4147-A177-3AD203B41FA5}">
                      <a16:colId xmlns:a16="http://schemas.microsoft.com/office/drawing/2014/main" val="1455863004"/>
                    </a:ext>
                  </a:extLst>
                </a:gridCol>
              </a:tblGrid>
              <a:tr h="198881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7234915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5F6EFEF4-C07A-2445-C035-83D88C2C6C7C}"/>
              </a:ext>
            </a:extLst>
          </p:cNvPr>
          <p:cNvSpPr txBox="1"/>
          <p:nvPr/>
        </p:nvSpPr>
        <p:spPr>
          <a:xfrm>
            <a:off x="-19687" y="7011596"/>
            <a:ext cx="3150737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Queue:            [1]</a:t>
            </a:r>
            <a:endParaRPr lang="en-US" sz="1400" dirty="0"/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0E8ED87C-06F7-4CF3-91DE-C2485CEF8F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4818840"/>
              </p:ext>
            </p:extLst>
          </p:nvPr>
        </p:nvGraphicFramePr>
        <p:xfrm>
          <a:off x="851177" y="7471119"/>
          <a:ext cx="246735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6735">
                  <a:extLst>
                    <a:ext uri="{9D8B030D-6E8A-4147-A177-3AD203B41FA5}">
                      <a16:colId xmlns:a16="http://schemas.microsoft.com/office/drawing/2014/main" val="2204751709"/>
                    </a:ext>
                  </a:extLst>
                </a:gridCol>
                <a:gridCol w="246735">
                  <a:extLst>
                    <a:ext uri="{9D8B030D-6E8A-4147-A177-3AD203B41FA5}">
                      <a16:colId xmlns:a16="http://schemas.microsoft.com/office/drawing/2014/main" val="290280848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035983872"/>
                    </a:ext>
                  </a:extLst>
                </a:gridCol>
                <a:gridCol w="275873">
                  <a:extLst>
                    <a:ext uri="{9D8B030D-6E8A-4147-A177-3AD203B41FA5}">
                      <a16:colId xmlns:a16="http://schemas.microsoft.com/office/drawing/2014/main" val="862770784"/>
                    </a:ext>
                  </a:extLst>
                </a:gridCol>
                <a:gridCol w="256052">
                  <a:extLst>
                    <a:ext uri="{9D8B030D-6E8A-4147-A177-3AD203B41FA5}">
                      <a16:colId xmlns:a16="http://schemas.microsoft.com/office/drawing/2014/main" val="2586353873"/>
                    </a:ext>
                  </a:extLst>
                </a:gridCol>
                <a:gridCol w="246735">
                  <a:extLst>
                    <a:ext uri="{9D8B030D-6E8A-4147-A177-3AD203B41FA5}">
                      <a16:colId xmlns:a16="http://schemas.microsoft.com/office/drawing/2014/main" val="918255752"/>
                    </a:ext>
                  </a:extLst>
                </a:gridCol>
                <a:gridCol w="246735">
                  <a:extLst>
                    <a:ext uri="{9D8B030D-6E8A-4147-A177-3AD203B41FA5}">
                      <a16:colId xmlns:a16="http://schemas.microsoft.com/office/drawing/2014/main" val="770663840"/>
                    </a:ext>
                  </a:extLst>
                </a:gridCol>
                <a:gridCol w="246735">
                  <a:extLst>
                    <a:ext uri="{9D8B030D-6E8A-4147-A177-3AD203B41FA5}">
                      <a16:colId xmlns:a16="http://schemas.microsoft.com/office/drawing/2014/main" val="2998568997"/>
                    </a:ext>
                  </a:extLst>
                </a:gridCol>
                <a:gridCol w="246735">
                  <a:extLst>
                    <a:ext uri="{9D8B030D-6E8A-4147-A177-3AD203B41FA5}">
                      <a16:colId xmlns:a16="http://schemas.microsoft.com/office/drawing/2014/main" val="4127236049"/>
                    </a:ext>
                  </a:extLst>
                </a:gridCol>
                <a:gridCol w="246735">
                  <a:extLst>
                    <a:ext uri="{9D8B030D-6E8A-4147-A177-3AD203B41FA5}">
                      <a16:colId xmlns:a16="http://schemas.microsoft.com/office/drawing/2014/main" val="1455863004"/>
                    </a:ext>
                  </a:extLst>
                </a:gridCol>
              </a:tblGrid>
              <a:tr h="271586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7234915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A71EF2CE-A893-4307-4A7B-D90BB2DDA42A}"/>
              </a:ext>
            </a:extLst>
          </p:cNvPr>
          <p:cNvSpPr txBox="1"/>
          <p:nvPr/>
        </p:nvSpPr>
        <p:spPr>
          <a:xfrm>
            <a:off x="-19050" y="7471119"/>
            <a:ext cx="8430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predCount</a:t>
            </a:r>
            <a:endParaRPr lang="en-US" sz="12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EA11548-5C8F-E845-600C-787BF3ABE33A}"/>
              </a:ext>
            </a:extLst>
          </p:cNvPr>
          <p:cNvSpPr txBox="1"/>
          <p:nvPr/>
        </p:nvSpPr>
        <p:spPr>
          <a:xfrm>
            <a:off x="3108" y="7881754"/>
            <a:ext cx="9122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topologicalOrder</a:t>
            </a:r>
            <a:endParaRPr lang="en-US" sz="1200" dirty="0"/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8E065C1B-1DAF-51D2-506E-A12CD550F9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7878232"/>
              </p:ext>
            </p:extLst>
          </p:nvPr>
        </p:nvGraphicFramePr>
        <p:xfrm>
          <a:off x="851177" y="7881754"/>
          <a:ext cx="2574945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2287">
                  <a:extLst>
                    <a:ext uri="{9D8B030D-6E8A-4147-A177-3AD203B41FA5}">
                      <a16:colId xmlns:a16="http://schemas.microsoft.com/office/drawing/2014/main" val="2204751709"/>
                    </a:ext>
                  </a:extLst>
                </a:gridCol>
                <a:gridCol w="288778">
                  <a:extLst>
                    <a:ext uri="{9D8B030D-6E8A-4147-A177-3AD203B41FA5}">
                      <a16:colId xmlns:a16="http://schemas.microsoft.com/office/drawing/2014/main" val="2902808483"/>
                    </a:ext>
                  </a:extLst>
                </a:gridCol>
                <a:gridCol w="246735">
                  <a:extLst>
                    <a:ext uri="{9D8B030D-6E8A-4147-A177-3AD203B41FA5}">
                      <a16:colId xmlns:a16="http://schemas.microsoft.com/office/drawing/2014/main" val="4035983872"/>
                    </a:ext>
                  </a:extLst>
                </a:gridCol>
                <a:gridCol w="246735">
                  <a:extLst>
                    <a:ext uri="{9D8B030D-6E8A-4147-A177-3AD203B41FA5}">
                      <a16:colId xmlns:a16="http://schemas.microsoft.com/office/drawing/2014/main" val="862770784"/>
                    </a:ext>
                  </a:extLst>
                </a:gridCol>
                <a:gridCol w="246735">
                  <a:extLst>
                    <a:ext uri="{9D8B030D-6E8A-4147-A177-3AD203B41FA5}">
                      <a16:colId xmlns:a16="http://schemas.microsoft.com/office/drawing/2014/main" val="2586353873"/>
                    </a:ext>
                  </a:extLst>
                </a:gridCol>
                <a:gridCol w="246735">
                  <a:extLst>
                    <a:ext uri="{9D8B030D-6E8A-4147-A177-3AD203B41FA5}">
                      <a16:colId xmlns:a16="http://schemas.microsoft.com/office/drawing/2014/main" val="918255752"/>
                    </a:ext>
                  </a:extLst>
                </a:gridCol>
                <a:gridCol w="246735">
                  <a:extLst>
                    <a:ext uri="{9D8B030D-6E8A-4147-A177-3AD203B41FA5}">
                      <a16:colId xmlns:a16="http://schemas.microsoft.com/office/drawing/2014/main" val="770663840"/>
                    </a:ext>
                  </a:extLst>
                </a:gridCol>
                <a:gridCol w="246735">
                  <a:extLst>
                    <a:ext uri="{9D8B030D-6E8A-4147-A177-3AD203B41FA5}">
                      <a16:colId xmlns:a16="http://schemas.microsoft.com/office/drawing/2014/main" val="2998568997"/>
                    </a:ext>
                  </a:extLst>
                </a:gridCol>
                <a:gridCol w="246735">
                  <a:extLst>
                    <a:ext uri="{9D8B030D-6E8A-4147-A177-3AD203B41FA5}">
                      <a16:colId xmlns:a16="http://schemas.microsoft.com/office/drawing/2014/main" val="4127236049"/>
                    </a:ext>
                  </a:extLst>
                </a:gridCol>
                <a:gridCol w="246735">
                  <a:extLst>
                    <a:ext uri="{9D8B030D-6E8A-4147-A177-3AD203B41FA5}">
                      <a16:colId xmlns:a16="http://schemas.microsoft.com/office/drawing/2014/main" val="1455863004"/>
                    </a:ext>
                  </a:extLst>
                </a:gridCol>
              </a:tblGrid>
              <a:tr h="198881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7234915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250517B7-310E-6AAF-FD86-3DBE194D7EC0}"/>
              </a:ext>
            </a:extLst>
          </p:cNvPr>
          <p:cNvSpPr txBox="1"/>
          <p:nvPr/>
        </p:nvSpPr>
        <p:spPr>
          <a:xfrm>
            <a:off x="37463" y="8388294"/>
            <a:ext cx="3150737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Queue:            [2,5,6]</a:t>
            </a:r>
            <a:endParaRPr lang="en-US" sz="1400" dirty="0"/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178AE6B7-4AA9-E531-8B0E-85C51DC839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7926690"/>
              </p:ext>
            </p:extLst>
          </p:nvPr>
        </p:nvGraphicFramePr>
        <p:xfrm>
          <a:off x="4390729" y="2111967"/>
          <a:ext cx="2507835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9616">
                  <a:extLst>
                    <a:ext uri="{9D8B030D-6E8A-4147-A177-3AD203B41FA5}">
                      <a16:colId xmlns:a16="http://schemas.microsoft.com/office/drawing/2014/main" val="2204751709"/>
                    </a:ext>
                  </a:extLst>
                </a:gridCol>
                <a:gridCol w="239616">
                  <a:extLst>
                    <a:ext uri="{9D8B030D-6E8A-4147-A177-3AD203B41FA5}">
                      <a16:colId xmlns:a16="http://schemas.microsoft.com/office/drawing/2014/main" val="290280848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035983872"/>
                    </a:ext>
                  </a:extLst>
                </a:gridCol>
                <a:gridCol w="267913">
                  <a:extLst>
                    <a:ext uri="{9D8B030D-6E8A-4147-A177-3AD203B41FA5}">
                      <a16:colId xmlns:a16="http://schemas.microsoft.com/office/drawing/2014/main" val="862770784"/>
                    </a:ext>
                  </a:extLst>
                </a:gridCol>
                <a:gridCol w="282825">
                  <a:extLst>
                    <a:ext uri="{9D8B030D-6E8A-4147-A177-3AD203B41FA5}">
                      <a16:colId xmlns:a16="http://schemas.microsoft.com/office/drawing/2014/main" val="2586353873"/>
                    </a:ext>
                  </a:extLst>
                </a:gridCol>
                <a:gridCol w="311121">
                  <a:extLst>
                    <a:ext uri="{9D8B030D-6E8A-4147-A177-3AD203B41FA5}">
                      <a16:colId xmlns:a16="http://schemas.microsoft.com/office/drawing/2014/main" val="918255752"/>
                    </a:ext>
                  </a:extLst>
                </a:gridCol>
                <a:gridCol w="239616">
                  <a:extLst>
                    <a:ext uri="{9D8B030D-6E8A-4147-A177-3AD203B41FA5}">
                      <a16:colId xmlns:a16="http://schemas.microsoft.com/office/drawing/2014/main" val="770663840"/>
                    </a:ext>
                  </a:extLst>
                </a:gridCol>
                <a:gridCol w="239616">
                  <a:extLst>
                    <a:ext uri="{9D8B030D-6E8A-4147-A177-3AD203B41FA5}">
                      <a16:colId xmlns:a16="http://schemas.microsoft.com/office/drawing/2014/main" val="2998568997"/>
                    </a:ext>
                  </a:extLst>
                </a:gridCol>
                <a:gridCol w="239616">
                  <a:extLst>
                    <a:ext uri="{9D8B030D-6E8A-4147-A177-3AD203B41FA5}">
                      <a16:colId xmlns:a16="http://schemas.microsoft.com/office/drawing/2014/main" val="4127236049"/>
                    </a:ext>
                  </a:extLst>
                </a:gridCol>
                <a:gridCol w="239616">
                  <a:extLst>
                    <a:ext uri="{9D8B030D-6E8A-4147-A177-3AD203B41FA5}">
                      <a16:colId xmlns:a16="http://schemas.microsoft.com/office/drawing/2014/main" val="1455863004"/>
                    </a:ext>
                  </a:extLst>
                </a:gridCol>
              </a:tblGrid>
              <a:tr h="271586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7234915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18E9B7F7-435D-C684-7250-3F8FB7FCE1C4}"/>
              </a:ext>
            </a:extLst>
          </p:cNvPr>
          <p:cNvSpPr txBox="1"/>
          <p:nvPr/>
        </p:nvSpPr>
        <p:spPr>
          <a:xfrm>
            <a:off x="3520502" y="2111967"/>
            <a:ext cx="8430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predCount</a:t>
            </a:r>
            <a:endParaRPr lang="en-US" sz="12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6C477EB-CA1C-5E8A-CAF3-248829F8DCBD}"/>
              </a:ext>
            </a:extLst>
          </p:cNvPr>
          <p:cNvSpPr txBox="1"/>
          <p:nvPr/>
        </p:nvSpPr>
        <p:spPr>
          <a:xfrm>
            <a:off x="3542660" y="2522602"/>
            <a:ext cx="9122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topologicalOrder</a:t>
            </a:r>
            <a:endParaRPr lang="en-US" sz="1200" dirty="0"/>
          </a:p>
        </p:txBody>
      </p:sp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53D8FED9-8AB9-7F2C-B04C-03315B4AC7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7913880"/>
              </p:ext>
            </p:extLst>
          </p:nvPr>
        </p:nvGraphicFramePr>
        <p:xfrm>
          <a:off x="4390730" y="2522602"/>
          <a:ext cx="2457446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8037">
                  <a:extLst>
                    <a:ext uri="{9D8B030D-6E8A-4147-A177-3AD203B41FA5}">
                      <a16:colId xmlns:a16="http://schemas.microsoft.com/office/drawing/2014/main" val="2204751709"/>
                    </a:ext>
                  </a:extLst>
                </a:gridCol>
                <a:gridCol w="275601">
                  <a:extLst>
                    <a:ext uri="{9D8B030D-6E8A-4147-A177-3AD203B41FA5}">
                      <a16:colId xmlns:a16="http://schemas.microsoft.com/office/drawing/2014/main" val="2902808483"/>
                    </a:ext>
                  </a:extLst>
                </a:gridCol>
                <a:gridCol w="235476">
                  <a:extLst>
                    <a:ext uri="{9D8B030D-6E8A-4147-A177-3AD203B41FA5}">
                      <a16:colId xmlns:a16="http://schemas.microsoft.com/office/drawing/2014/main" val="4035983872"/>
                    </a:ext>
                  </a:extLst>
                </a:gridCol>
                <a:gridCol w="235476">
                  <a:extLst>
                    <a:ext uri="{9D8B030D-6E8A-4147-A177-3AD203B41FA5}">
                      <a16:colId xmlns:a16="http://schemas.microsoft.com/office/drawing/2014/main" val="862770784"/>
                    </a:ext>
                  </a:extLst>
                </a:gridCol>
                <a:gridCol w="235476">
                  <a:extLst>
                    <a:ext uri="{9D8B030D-6E8A-4147-A177-3AD203B41FA5}">
                      <a16:colId xmlns:a16="http://schemas.microsoft.com/office/drawing/2014/main" val="2586353873"/>
                    </a:ext>
                  </a:extLst>
                </a:gridCol>
                <a:gridCol w="235476">
                  <a:extLst>
                    <a:ext uri="{9D8B030D-6E8A-4147-A177-3AD203B41FA5}">
                      <a16:colId xmlns:a16="http://schemas.microsoft.com/office/drawing/2014/main" val="918255752"/>
                    </a:ext>
                  </a:extLst>
                </a:gridCol>
                <a:gridCol w="235476">
                  <a:extLst>
                    <a:ext uri="{9D8B030D-6E8A-4147-A177-3AD203B41FA5}">
                      <a16:colId xmlns:a16="http://schemas.microsoft.com/office/drawing/2014/main" val="770663840"/>
                    </a:ext>
                  </a:extLst>
                </a:gridCol>
                <a:gridCol w="235476">
                  <a:extLst>
                    <a:ext uri="{9D8B030D-6E8A-4147-A177-3AD203B41FA5}">
                      <a16:colId xmlns:a16="http://schemas.microsoft.com/office/drawing/2014/main" val="2998568997"/>
                    </a:ext>
                  </a:extLst>
                </a:gridCol>
                <a:gridCol w="235476">
                  <a:extLst>
                    <a:ext uri="{9D8B030D-6E8A-4147-A177-3AD203B41FA5}">
                      <a16:colId xmlns:a16="http://schemas.microsoft.com/office/drawing/2014/main" val="4127236049"/>
                    </a:ext>
                  </a:extLst>
                </a:gridCol>
                <a:gridCol w="235476">
                  <a:extLst>
                    <a:ext uri="{9D8B030D-6E8A-4147-A177-3AD203B41FA5}">
                      <a16:colId xmlns:a16="http://schemas.microsoft.com/office/drawing/2014/main" val="1455863004"/>
                    </a:ext>
                  </a:extLst>
                </a:gridCol>
              </a:tblGrid>
              <a:tr h="198881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7234915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EFDFD65B-0DA9-9E04-1BF8-39B6731F9335}"/>
              </a:ext>
            </a:extLst>
          </p:cNvPr>
          <p:cNvSpPr txBox="1"/>
          <p:nvPr/>
        </p:nvSpPr>
        <p:spPr>
          <a:xfrm>
            <a:off x="3577016" y="3029142"/>
            <a:ext cx="3042564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Queue:            [5,6]</a:t>
            </a:r>
            <a:endParaRPr lang="en-US" sz="1400" dirty="0"/>
          </a:p>
        </p:txBody>
      </p:sp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4F11B0D2-83F2-D279-B168-2BDFF37824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0782821"/>
              </p:ext>
            </p:extLst>
          </p:nvPr>
        </p:nvGraphicFramePr>
        <p:xfrm>
          <a:off x="4321157" y="3383876"/>
          <a:ext cx="2507835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9616">
                  <a:extLst>
                    <a:ext uri="{9D8B030D-6E8A-4147-A177-3AD203B41FA5}">
                      <a16:colId xmlns:a16="http://schemas.microsoft.com/office/drawing/2014/main" val="2204751709"/>
                    </a:ext>
                  </a:extLst>
                </a:gridCol>
                <a:gridCol w="239616">
                  <a:extLst>
                    <a:ext uri="{9D8B030D-6E8A-4147-A177-3AD203B41FA5}">
                      <a16:colId xmlns:a16="http://schemas.microsoft.com/office/drawing/2014/main" val="290280848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035983872"/>
                    </a:ext>
                  </a:extLst>
                </a:gridCol>
                <a:gridCol w="267913">
                  <a:extLst>
                    <a:ext uri="{9D8B030D-6E8A-4147-A177-3AD203B41FA5}">
                      <a16:colId xmlns:a16="http://schemas.microsoft.com/office/drawing/2014/main" val="862770784"/>
                    </a:ext>
                  </a:extLst>
                </a:gridCol>
                <a:gridCol w="282825">
                  <a:extLst>
                    <a:ext uri="{9D8B030D-6E8A-4147-A177-3AD203B41FA5}">
                      <a16:colId xmlns:a16="http://schemas.microsoft.com/office/drawing/2014/main" val="2586353873"/>
                    </a:ext>
                  </a:extLst>
                </a:gridCol>
                <a:gridCol w="311121">
                  <a:extLst>
                    <a:ext uri="{9D8B030D-6E8A-4147-A177-3AD203B41FA5}">
                      <a16:colId xmlns:a16="http://schemas.microsoft.com/office/drawing/2014/main" val="918255752"/>
                    </a:ext>
                  </a:extLst>
                </a:gridCol>
                <a:gridCol w="239616">
                  <a:extLst>
                    <a:ext uri="{9D8B030D-6E8A-4147-A177-3AD203B41FA5}">
                      <a16:colId xmlns:a16="http://schemas.microsoft.com/office/drawing/2014/main" val="770663840"/>
                    </a:ext>
                  </a:extLst>
                </a:gridCol>
                <a:gridCol w="239616">
                  <a:extLst>
                    <a:ext uri="{9D8B030D-6E8A-4147-A177-3AD203B41FA5}">
                      <a16:colId xmlns:a16="http://schemas.microsoft.com/office/drawing/2014/main" val="2998568997"/>
                    </a:ext>
                  </a:extLst>
                </a:gridCol>
                <a:gridCol w="239616">
                  <a:extLst>
                    <a:ext uri="{9D8B030D-6E8A-4147-A177-3AD203B41FA5}">
                      <a16:colId xmlns:a16="http://schemas.microsoft.com/office/drawing/2014/main" val="4127236049"/>
                    </a:ext>
                  </a:extLst>
                </a:gridCol>
                <a:gridCol w="239616">
                  <a:extLst>
                    <a:ext uri="{9D8B030D-6E8A-4147-A177-3AD203B41FA5}">
                      <a16:colId xmlns:a16="http://schemas.microsoft.com/office/drawing/2014/main" val="1455863004"/>
                    </a:ext>
                  </a:extLst>
                </a:gridCol>
              </a:tblGrid>
              <a:tr h="271586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7234915"/>
                  </a:ext>
                </a:extLst>
              </a:tr>
            </a:tbl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5482D000-C458-3D50-08DF-D82A0EEEA056}"/>
              </a:ext>
            </a:extLst>
          </p:cNvPr>
          <p:cNvSpPr txBox="1"/>
          <p:nvPr/>
        </p:nvSpPr>
        <p:spPr>
          <a:xfrm>
            <a:off x="3450930" y="3383876"/>
            <a:ext cx="8430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predCount</a:t>
            </a:r>
            <a:endParaRPr lang="en-US" sz="12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E4209E9-9976-1C2E-E7DA-FEB11945BCEA}"/>
              </a:ext>
            </a:extLst>
          </p:cNvPr>
          <p:cNvSpPr txBox="1"/>
          <p:nvPr/>
        </p:nvSpPr>
        <p:spPr>
          <a:xfrm>
            <a:off x="3473088" y="3794511"/>
            <a:ext cx="9122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topologicalOrder</a:t>
            </a:r>
            <a:endParaRPr lang="en-US" sz="1200" dirty="0"/>
          </a:p>
        </p:txBody>
      </p:sp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C302AE57-304E-7D2D-8910-F0D202F96B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3870155"/>
              </p:ext>
            </p:extLst>
          </p:nvPr>
        </p:nvGraphicFramePr>
        <p:xfrm>
          <a:off x="4321158" y="3794511"/>
          <a:ext cx="2457446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8037">
                  <a:extLst>
                    <a:ext uri="{9D8B030D-6E8A-4147-A177-3AD203B41FA5}">
                      <a16:colId xmlns:a16="http://schemas.microsoft.com/office/drawing/2014/main" val="2204751709"/>
                    </a:ext>
                  </a:extLst>
                </a:gridCol>
                <a:gridCol w="275601">
                  <a:extLst>
                    <a:ext uri="{9D8B030D-6E8A-4147-A177-3AD203B41FA5}">
                      <a16:colId xmlns:a16="http://schemas.microsoft.com/office/drawing/2014/main" val="2902808483"/>
                    </a:ext>
                  </a:extLst>
                </a:gridCol>
                <a:gridCol w="235476">
                  <a:extLst>
                    <a:ext uri="{9D8B030D-6E8A-4147-A177-3AD203B41FA5}">
                      <a16:colId xmlns:a16="http://schemas.microsoft.com/office/drawing/2014/main" val="4035983872"/>
                    </a:ext>
                  </a:extLst>
                </a:gridCol>
                <a:gridCol w="235476">
                  <a:extLst>
                    <a:ext uri="{9D8B030D-6E8A-4147-A177-3AD203B41FA5}">
                      <a16:colId xmlns:a16="http://schemas.microsoft.com/office/drawing/2014/main" val="862770784"/>
                    </a:ext>
                  </a:extLst>
                </a:gridCol>
                <a:gridCol w="235476">
                  <a:extLst>
                    <a:ext uri="{9D8B030D-6E8A-4147-A177-3AD203B41FA5}">
                      <a16:colId xmlns:a16="http://schemas.microsoft.com/office/drawing/2014/main" val="2586353873"/>
                    </a:ext>
                  </a:extLst>
                </a:gridCol>
                <a:gridCol w="235476">
                  <a:extLst>
                    <a:ext uri="{9D8B030D-6E8A-4147-A177-3AD203B41FA5}">
                      <a16:colId xmlns:a16="http://schemas.microsoft.com/office/drawing/2014/main" val="918255752"/>
                    </a:ext>
                  </a:extLst>
                </a:gridCol>
                <a:gridCol w="235476">
                  <a:extLst>
                    <a:ext uri="{9D8B030D-6E8A-4147-A177-3AD203B41FA5}">
                      <a16:colId xmlns:a16="http://schemas.microsoft.com/office/drawing/2014/main" val="770663840"/>
                    </a:ext>
                  </a:extLst>
                </a:gridCol>
                <a:gridCol w="235476">
                  <a:extLst>
                    <a:ext uri="{9D8B030D-6E8A-4147-A177-3AD203B41FA5}">
                      <a16:colId xmlns:a16="http://schemas.microsoft.com/office/drawing/2014/main" val="2998568997"/>
                    </a:ext>
                  </a:extLst>
                </a:gridCol>
                <a:gridCol w="235476">
                  <a:extLst>
                    <a:ext uri="{9D8B030D-6E8A-4147-A177-3AD203B41FA5}">
                      <a16:colId xmlns:a16="http://schemas.microsoft.com/office/drawing/2014/main" val="4127236049"/>
                    </a:ext>
                  </a:extLst>
                </a:gridCol>
                <a:gridCol w="235476">
                  <a:extLst>
                    <a:ext uri="{9D8B030D-6E8A-4147-A177-3AD203B41FA5}">
                      <a16:colId xmlns:a16="http://schemas.microsoft.com/office/drawing/2014/main" val="1455863004"/>
                    </a:ext>
                  </a:extLst>
                </a:gridCol>
              </a:tblGrid>
              <a:tr h="198881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7234915"/>
                  </a:ext>
                </a:extLst>
              </a:tr>
            </a:tbl>
          </a:graphicData>
        </a:graphic>
      </p:graphicFrame>
      <p:sp>
        <p:nvSpPr>
          <p:cNvPr id="37" name="TextBox 36">
            <a:extLst>
              <a:ext uri="{FF2B5EF4-FFF2-40B4-BE49-F238E27FC236}">
                <a16:creationId xmlns:a16="http://schemas.microsoft.com/office/drawing/2014/main" id="{277DE07F-7E88-56D5-9FC6-D0D924F563D9}"/>
              </a:ext>
            </a:extLst>
          </p:cNvPr>
          <p:cNvSpPr txBox="1"/>
          <p:nvPr/>
        </p:nvSpPr>
        <p:spPr>
          <a:xfrm>
            <a:off x="3507444" y="4301051"/>
            <a:ext cx="3042564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Queue:            [6,3,8]</a:t>
            </a:r>
            <a:endParaRPr lang="en-US" sz="1400" dirty="0"/>
          </a:p>
        </p:txBody>
      </p:sp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DC6A686C-9141-F913-9201-867B492D68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6517034"/>
              </p:ext>
            </p:extLst>
          </p:nvPr>
        </p:nvGraphicFramePr>
        <p:xfrm>
          <a:off x="4321158" y="4690215"/>
          <a:ext cx="2547515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0888">
                  <a:extLst>
                    <a:ext uri="{9D8B030D-6E8A-4147-A177-3AD203B41FA5}">
                      <a16:colId xmlns:a16="http://schemas.microsoft.com/office/drawing/2014/main" val="2204751709"/>
                    </a:ext>
                  </a:extLst>
                </a:gridCol>
                <a:gridCol w="230888">
                  <a:extLst>
                    <a:ext uri="{9D8B030D-6E8A-4147-A177-3AD203B41FA5}">
                      <a16:colId xmlns:a16="http://schemas.microsoft.com/office/drawing/2014/main" val="290280848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035983872"/>
                    </a:ext>
                  </a:extLst>
                </a:gridCol>
                <a:gridCol w="230593">
                  <a:extLst>
                    <a:ext uri="{9D8B030D-6E8A-4147-A177-3AD203B41FA5}">
                      <a16:colId xmlns:a16="http://schemas.microsoft.com/office/drawing/2014/main" val="862770784"/>
                    </a:ext>
                  </a:extLst>
                </a:gridCol>
                <a:gridCol w="300084">
                  <a:extLst>
                    <a:ext uri="{9D8B030D-6E8A-4147-A177-3AD203B41FA5}">
                      <a16:colId xmlns:a16="http://schemas.microsoft.com/office/drawing/2014/main" val="2586353873"/>
                    </a:ext>
                  </a:extLst>
                </a:gridCol>
                <a:gridCol w="299788">
                  <a:extLst>
                    <a:ext uri="{9D8B030D-6E8A-4147-A177-3AD203B41FA5}">
                      <a16:colId xmlns:a16="http://schemas.microsoft.com/office/drawing/2014/main" val="918255752"/>
                    </a:ext>
                  </a:extLst>
                </a:gridCol>
                <a:gridCol w="230888">
                  <a:extLst>
                    <a:ext uri="{9D8B030D-6E8A-4147-A177-3AD203B41FA5}">
                      <a16:colId xmlns:a16="http://schemas.microsoft.com/office/drawing/2014/main" val="770663840"/>
                    </a:ext>
                  </a:extLst>
                </a:gridCol>
                <a:gridCol w="230888">
                  <a:extLst>
                    <a:ext uri="{9D8B030D-6E8A-4147-A177-3AD203B41FA5}">
                      <a16:colId xmlns:a16="http://schemas.microsoft.com/office/drawing/2014/main" val="2998568997"/>
                    </a:ext>
                  </a:extLst>
                </a:gridCol>
                <a:gridCol w="259924">
                  <a:extLst>
                    <a:ext uri="{9D8B030D-6E8A-4147-A177-3AD203B41FA5}">
                      <a16:colId xmlns:a16="http://schemas.microsoft.com/office/drawing/2014/main" val="4127236049"/>
                    </a:ext>
                  </a:extLst>
                </a:gridCol>
                <a:gridCol w="325294">
                  <a:extLst>
                    <a:ext uri="{9D8B030D-6E8A-4147-A177-3AD203B41FA5}">
                      <a16:colId xmlns:a16="http://schemas.microsoft.com/office/drawing/2014/main" val="1455863004"/>
                    </a:ext>
                  </a:extLst>
                </a:gridCol>
              </a:tblGrid>
              <a:tr h="271586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7234915"/>
                  </a:ext>
                </a:extLst>
              </a:tr>
            </a:tbl>
          </a:graphicData>
        </a:graphic>
      </p:graphicFrame>
      <p:sp>
        <p:nvSpPr>
          <p:cNvPr id="39" name="TextBox 38">
            <a:extLst>
              <a:ext uri="{FF2B5EF4-FFF2-40B4-BE49-F238E27FC236}">
                <a16:creationId xmlns:a16="http://schemas.microsoft.com/office/drawing/2014/main" id="{8CEB87F8-FCE1-FBA5-5898-F3BE982B93A1}"/>
              </a:ext>
            </a:extLst>
          </p:cNvPr>
          <p:cNvSpPr txBox="1"/>
          <p:nvPr/>
        </p:nvSpPr>
        <p:spPr>
          <a:xfrm>
            <a:off x="3450930" y="4690215"/>
            <a:ext cx="8430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predCount</a:t>
            </a:r>
            <a:endParaRPr lang="en-US" sz="12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F8EB713-874C-2B72-BDB3-CDF46F0B6433}"/>
              </a:ext>
            </a:extLst>
          </p:cNvPr>
          <p:cNvSpPr txBox="1"/>
          <p:nvPr/>
        </p:nvSpPr>
        <p:spPr>
          <a:xfrm>
            <a:off x="3473088" y="5100850"/>
            <a:ext cx="9122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topologicalOrder</a:t>
            </a:r>
            <a:endParaRPr lang="en-US" sz="1200" dirty="0"/>
          </a:p>
        </p:txBody>
      </p:sp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7B4C7845-E943-8F41-BD72-5D87503DA2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3250334"/>
              </p:ext>
            </p:extLst>
          </p:nvPr>
        </p:nvGraphicFramePr>
        <p:xfrm>
          <a:off x="4321158" y="5100850"/>
          <a:ext cx="2457446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8037">
                  <a:extLst>
                    <a:ext uri="{9D8B030D-6E8A-4147-A177-3AD203B41FA5}">
                      <a16:colId xmlns:a16="http://schemas.microsoft.com/office/drawing/2014/main" val="2204751709"/>
                    </a:ext>
                  </a:extLst>
                </a:gridCol>
                <a:gridCol w="275601">
                  <a:extLst>
                    <a:ext uri="{9D8B030D-6E8A-4147-A177-3AD203B41FA5}">
                      <a16:colId xmlns:a16="http://schemas.microsoft.com/office/drawing/2014/main" val="2902808483"/>
                    </a:ext>
                  </a:extLst>
                </a:gridCol>
                <a:gridCol w="235476">
                  <a:extLst>
                    <a:ext uri="{9D8B030D-6E8A-4147-A177-3AD203B41FA5}">
                      <a16:colId xmlns:a16="http://schemas.microsoft.com/office/drawing/2014/main" val="4035983872"/>
                    </a:ext>
                  </a:extLst>
                </a:gridCol>
                <a:gridCol w="235476">
                  <a:extLst>
                    <a:ext uri="{9D8B030D-6E8A-4147-A177-3AD203B41FA5}">
                      <a16:colId xmlns:a16="http://schemas.microsoft.com/office/drawing/2014/main" val="862770784"/>
                    </a:ext>
                  </a:extLst>
                </a:gridCol>
                <a:gridCol w="235476">
                  <a:extLst>
                    <a:ext uri="{9D8B030D-6E8A-4147-A177-3AD203B41FA5}">
                      <a16:colId xmlns:a16="http://schemas.microsoft.com/office/drawing/2014/main" val="2586353873"/>
                    </a:ext>
                  </a:extLst>
                </a:gridCol>
                <a:gridCol w="235476">
                  <a:extLst>
                    <a:ext uri="{9D8B030D-6E8A-4147-A177-3AD203B41FA5}">
                      <a16:colId xmlns:a16="http://schemas.microsoft.com/office/drawing/2014/main" val="918255752"/>
                    </a:ext>
                  </a:extLst>
                </a:gridCol>
                <a:gridCol w="235476">
                  <a:extLst>
                    <a:ext uri="{9D8B030D-6E8A-4147-A177-3AD203B41FA5}">
                      <a16:colId xmlns:a16="http://schemas.microsoft.com/office/drawing/2014/main" val="770663840"/>
                    </a:ext>
                  </a:extLst>
                </a:gridCol>
                <a:gridCol w="235476">
                  <a:extLst>
                    <a:ext uri="{9D8B030D-6E8A-4147-A177-3AD203B41FA5}">
                      <a16:colId xmlns:a16="http://schemas.microsoft.com/office/drawing/2014/main" val="2998568997"/>
                    </a:ext>
                  </a:extLst>
                </a:gridCol>
                <a:gridCol w="235476">
                  <a:extLst>
                    <a:ext uri="{9D8B030D-6E8A-4147-A177-3AD203B41FA5}">
                      <a16:colId xmlns:a16="http://schemas.microsoft.com/office/drawing/2014/main" val="4127236049"/>
                    </a:ext>
                  </a:extLst>
                </a:gridCol>
                <a:gridCol w="235476">
                  <a:extLst>
                    <a:ext uri="{9D8B030D-6E8A-4147-A177-3AD203B41FA5}">
                      <a16:colId xmlns:a16="http://schemas.microsoft.com/office/drawing/2014/main" val="1455863004"/>
                    </a:ext>
                  </a:extLst>
                </a:gridCol>
              </a:tblGrid>
              <a:tr h="198881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7234915"/>
                  </a:ext>
                </a:extLst>
              </a:tr>
            </a:tbl>
          </a:graphicData>
        </a:graphic>
      </p:graphicFrame>
      <p:sp>
        <p:nvSpPr>
          <p:cNvPr id="42" name="TextBox 41">
            <a:extLst>
              <a:ext uri="{FF2B5EF4-FFF2-40B4-BE49-F238E27FC236}">
                <a16:creationId xmlns:a16="http://schemas.microsoft.com/office/drawing/2014/main" id="{BC8805A6-0CB9-0A67-C8D5-B286C925D07E}"/>
              </a:ext>
            </a:extLst>
          </p:cNvPr>
          <p:cNvSpPr txBox="1"/>
          <p:nvPr/>
        </p:nvSpPr>
        <p:spPr>
          <a:xfrm>
            <a:off x="3507444" y="5607390"/>
            <a:ext cx="3042564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Queue:            [3,8]</a:t>
            </a:r>
            <a:endParaRPr lang="en-US" sz="1400" dirty="0"/>
          </a:p>
        </p:txBody>
      </p:sp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240185C7-39CF-61E2-3FD5-8831607D3A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303286"/>
              </p:ext>
            </p:extLst>
          </p:nvPr>
        </p:nvGraphicFramePr>
        <p:xfrm>
          <a:off x="4321158" y="5987069"/>
          <a:ext cx="2547515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0888">
                  <a:extLst>
                    <a:ext uri="{9D8B030D-6E8A-4147-A177-3AD203B41FA5}">
                      <a16:colId xmlns:a16="http://schemas.microsoft.com/office/drawing/2014/main" val="2204751709"/>
                    </a:ext>
                  </a:extLst>
                </a:gridCol>
                <a:gridCol w="230888">
                  <a:extLst>
                    <a:ext uri="{9D8B030D-6E8A-4147-A177-3AD203B41FA5}">
                      <a16:colId xmlns:a16="http://schemas.microsoft.com/office/drawing/2014/main" val="290280848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035983872"/>
                    </a:ext>
                  </a:extLst>
                </a:gridCol>
                <a:gridCol w="230593">
                  <a:extLst>
                    <a:ext uri="{9D8B030D-6E8A-4147-A177-3AD203B41FA5}">
                      <a16:colId xmlns:a16="http://schemas.microsoft.com/office/drawing/2014/main" val="862770784"/>
                    </a:ext>
                  </a:extLst>
                </a:gridCol>
                <a:gridCol w="300084">
                  <a:extLst>
                    <a:ext uri="{9D8B030D-6E8A-4147-A177-3AD203B41FA5}">
                      <a16:colId xmlns:a16="http://schemas.microsoft.com/office/drawing/2014/main" val="2586353873"/>
                    </a:ext>
                  </a:extLst>
                </a:gridCol>
                <a:gridCol w="299788">
                  <a:extLst>
                    <a:ext uri="{9D8B030D-6E8A-4147-A177-3AD203B41FA5}">
                      <a16:colId xmlns:a16="http://schemas.microsoft.com/office/drawing/2014/main" val="918255752"/>
                    </a:ext>
                  </a:extLst>
                </a:gridCol>
                <a:gridCol w="230888">
                  <a:extLst>
                    <a:ext uri="{9D8B030D-6E8A-4147-A177-3AD203B41FA5}">
                      <a16:colId xmlns:a16="http://schemas.microsoft.com/office/drawing/2014/main" val="770663840"/>
                    </a:ext>
                  </a:extLst>
                </a:gridCol>
                <a:gridCol w="230888">
                  <a:extLst>
                    <a:ext uri="{9D8B030D-6E8A-4147-A177-3AD203B41FA5}">
                      <a16:colId xmlns:a16="http://schemas.microsoft.com/office/drawing/2014/main" val="2998568997"/>
                    </a:ext>
                  </a:extLst>
                </a:gridCol>
                <a:gridCol w="259924">
                  <a:extLst>
                    <a:ext uri="{9D8B030D-6E8A-4147-A177-3AD203B41FA5}">
                      <a16:colId xmlns:a16="http://schemas.microsoft.com/office/drawing/2014/main" val="4127236049"/>
                    </a:ext>
                  </a:extLst>
                </a:gridCol>
                <a:gridCol w="325294">
                  <a:extLst>
                    <a:ext uri="{9D8B030D-6E8A-4147-A177-3AD203B41FA5}">
                      <a16:colId xmlns:a16="http://schemas.microsoft.com/office/drawing/2014/main" val="1455863004"/>
                    </a:ext>
                  </a:extLst>
                </a:gridCol>
              </a:tblGrid>
              <a:tr h="271586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7234915"/>
                  </a:ext>
                </a:extLst>
              </a:tr>
            </a:tbl>
          </a:graphicData>
        </a:graphic>
      </p:graphicFrame>
      <p:sp>
        <p:nvSpPr>
          <p:cNvPr id="44" name="TextBox 43">
            <a:extLst>
              <a:ext uri="{FF2B5EF4-FFF2-40B4-BE49-F238E27FC236}">
                <a16:creationId xmlns:a16="http://schemas.microsoft.com/office/drawing/2014/main" id="{3E19690E-BD03-8E03-4D87-3E8095DE3511}"/>
              </a:ext>
            </a:extLst>
          </p:cNvPr>
          <p:cNvSpPr txBox="1"/>
          <p:nvPr/>
        </p:nvSpPr>
        <p:spPr>
          <a:xfrm>
            <a:off x="3450930" y="5987069"/>
            <a:ext cx="8430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predCount</a:t>
            </a:r>
            <a:endParaRPr lang="en-US" sz="12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4BBDE54-2A73-451A-DE44-582AE810A8A9}"/>
              </a:ext>
            </a:extLst>
          </p:cNvPr>
          <p:cNvSpPr txBox="1"/>
          <p:nvPr/>
        </p:nvSpPr>
        <p:spPr>
          <a:xfrm>
            <a:off x="3473088" y="6397704"/>
            <a:ext cx="9122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topologicalOrder</a:t>
            </a:r>
            <a:endParaRPr lang="en-US" sz="1200" dirty="0"/>
          </a:p>
        </p:txBody>
      </p:sp>
      <p:graphicFrame>
        <p:nvGraphicFramePr>
          <p:cNvPr id="46" name="Table 45">
            <a:extLst>
              <a:ext uri="{FF2B5EF4-FFF2-40B4-BE49-F238E27FC236}">
                <a16:creationId xmlns:a16="http://schemas.microsoft.com/office/drawing/2014/main" id="{263E01BA-FDD2-3768-EA2E-21902ABB2E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8417786"/>
              </p:ext>
            </p:extLst>
          </p:nvPr>
        </p:nvGraphicFramePr>
        <p:xfrm>
          <a:off x="4321158" y="6397704"/>
          <a:ext cx="2457446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8037">
                  <a:extLst>
                    <a:ext uri="{9D8B030D-6E8A-4147-A177-3AD203B41FA5}">
                      <a16:colId xmlns:a16="http://schemas.microsoft.com/office/drawing/2014/main" val="2204751709"/>
                    </a:ext>
                  </a:extLst>
                </a:gridCol>
                <a:gridCol w="275601">
                  <a:extLst>
                    <a:ext uri="{9D8B030D-6E8A-4147-A177-3AD203B41FA5}">
                      <a16:colId xmlns:a16="http://schemas.microsoft.com/office/drawing/2014/main" val="2902808483"/>
                    </a:ext>
                  </a:extLst>
                </a:gridCol>
                <a:gridCol w="235476">
                  <a:extLst>
                    <a:ext uri="{9D8B030D-6E8A-4147-A177-3AD203B41FA5}">
                      <a16:colId xmlns:a16="http://schemas.microsoft.com/office/drawing/2014/main" val="4035983872"/>
                    </a:ext>
                  </a:extLst>
                </a:gridCol>
                <a:gridCol w="235476">
                  <a:extLst>
                    <a:ext uri="{9D8B030D-6E8A-4147-A177-3AD203B41FA5}">
                      <a16:colId xmlns:a16="http://schemas.microsoft.com/office/drawing/2014/main" val="862770784"/>
                    </a:ext>
                  </a:extLst>
                </a:gridCol>
                <a:gridCol w="235476">
                  <a:extLst>
                    <a:ext uri="{9D8B030D-6E8A-4147-A177-3AD203B41FA5}">
                      <a16:colId xmlns:a16="http://schemas.microsoft.com/office/drawing/2014/main" val="2586353873"/>
                    </a:ext>
                  </a:extLst>
                </a:gridCol>
                <a:gridCol w="235476">
                  <a:extLst>
                    <a:ext uri="{9D8B030D-6E8A-4147-A177-3AD203B41FA5}">
                      <a16:colId xmlns:a16="http://schemas.microsoft.com/office/drawing/2014/main" val="918255752"/>
                    </a:ext>
                  </a:extLst>
                </a:gridCol>
                <a:gridCol w="235476">
                  <a:extLst>
                    <a:ext uri="{9D8B030D-6E8A-4147-A177-3AD203B41FA5}">
                      <a16:colId xmlns:a16="http://schemas.microsoft.com/office/drawing/2014/main" val="770663840"/>
                    </a:ext>
                  </a:extLst>
                </a:gridCol>
                <a:gridCol w="235476">
                  <a:extLst>
                    <a:ext uri="{9D8B030D-6E8A-4147-A177-3AD203B41FA5}">
                      <a16:colId xmlns:a16="http://schemas.microsoft.com/office/drawing/2014/main" val="2998568997"/>
                    </a:ext>
                  </a:extLst>
                </a:gridCol>
                <a:gridCol w="235476">
                  <a:extLst>
                    <a:ext uri="{9D8B030D-6E8A-4147-A177-3AD203B41FA5}">
                      <a16:colId xmlns:a16="http://schemas.microsoft.com/office/drawing/2014/main" val="4127236049"/>
                    </a:ext>
                  </a:extLst>
                </a:gridCol>
                <a:gridCol w="235476">
                  <a:extLst>
                    <a:ext uri="{9D8B030D-6E8A-4147-A177-3AD203B41FA5}">
                      <a16:colId xmlns:a16="http://schemas.microsoft.com/office/drawing/2014/main" val="1455863004"/>
                    </a:ext>
                  </a:extLst>
                </a:gridCol>
              </a:tblGrid>
              <a:tr h="198881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7234915"/>
                  </a:ext>
                </a:extLst>
              </a:tr>
            </a:tbl>
          </a:graphicData>
        </a:graphic>
      </p:graphicFrame>
      <p:sp>
        <p:nvSpPr>
          <p:cNvPr id="47" name="TextBox 46">
            <a:extLst>
              <a:ext uri="{FF2B5EF4-FFF2-40B4-BE49-F238E27FC236}">
                <a16:creationId xmlns:a16="http://schemas.microsoft.com/office/drawing/2014/main" id="{3C219435-CDA4-9A14-83B9-94D62219F654}"/>
              </a:ext>
            </a:extLst>
          </p:cNvPr>
          <p:cNvSpPr txBox="1"/>
          <p:nvPr/>
        </p:nvSpPr>
        <p:spPr>
          <a:xfrm>
            <a:off x="3520502" y="6837644"/>
            <a:ext cx="3042564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Queue:            [8,4,9]</a:t>
            </a:r>
            <a:endParaRPr lang="en-US" sz="1400" dirty="0"/>
          </a:p>
        </p:txBody>
      </p:sp>
      <p:graphicFrame>
        <p:nvGraphicFramePr>
          <p:cNvPr id="48" name="Table 47">
            <a:extLst>
              <a:ext uri="{FF2B5EF4-FFF2-40B4-BE49-F238E27FC236}">
                <a16:creationId xmlns:a16="http://schemas.microsoft.com/office/drawing/2014/main" id="{75B0A2D4-B3D5-7FCF-9865-3C5B8E1D49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1061313"/>
              </p:ext>
            </p:extLst>
          </p:nvPr>
        </p:nvGraphicFramePr>
        <p:xfrm>
          <a:off x="4305216" y="7370488"/>
          <a:ext cx="2547515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0888">
                  <a:extLst>
                    <a:ext uri="{9D8B030D-6E8A-4147-A177-3AD203B41FA5}">
                      <a16:colId xmlns:a16="http://schemas.microsoft.com/office/drawing/2014/main" val="2204751709"/>
                    </a:ext>
                  </a:extLst>
                </a:gridCol>
                <a:gridCol w="230888">
                  <a:extLst>
                    <a:ext uri="{9D8B030D-6E8A-4147-A177-3AD203B41FA5}">
                      <a16:colId xmlns:a16="http://schemas.microsoft.com/office/drawing/2014/main" val="290280848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035983872"/>
                    </a:ext>
                  </a:extLst>
                </a:gridCol>
                <a:gridCol w="230593">
                  <a:extLst>
                    <a:ext uri="{9D8B030D-6E8A-4147-A177-3AD203B41FA5}">
                      <a16:colId xmlns:a16="http://schemas.microsoft.com/office/drawing/2014/main" val="862770784"/>
                    </a:ext>
                  </a:extLst>
                </a:gridCol>
                <a:gridCol w="300084">
                  <a:extLst>
                    <a:ext uri="{9D8B030D-6E8A-4147-A177-3AD203B41FA5}">
                      <a16:colId xmlns:a16="http://schemas.microsoft.com/office/drawing/2014/main" val="2586353873"/>
                    </a:ext>
                  </a:extLst>
                </a:gridCol>
                <a:gridCol w="299788">
                  <a:extLst>
                    <a:ext uri="{9D8B030D-6E8A-4147-A177-3AD203B41FA5}">
                      <a16:colId xmlns:a16="http://schemas.microsoft.com/office/drawing/2014/main" val="918255752"/>
                    </a:ext>
                  </a:extLst>
                </a:gridCol>
                <a:gridCol w="230888">
                  <a:extLst>
                    <a:ext uri="{9D8B030D-6E8A-4147-A177-3AD203B41FA5}">
                      <a16:colId xmlns:a16="http://schemas.microsoft.com/office/drawing/2014/main" val="770663840"/>
                    </a:ext>
                  </a:extLst>
                </a:gridCol>
                <a:gridCol w="230888">
                  <a:extLst>
                    <a:ext uri="{9D8B030D-6E8A-4147-A177-3AD203B41FA5}">
                      <a16:colId xmlns:a16="http://schemas.microsoft.com/office/drawing/2014/main" val="2998568997"/>
                    </a:ext>
                  </a:extLst>
                </a:gridCol>
                <a:gridCol w="259924">
                  <a:extLst>
                    <a:ext uri="{9D8B030D-6E8A-4147-A177-3AD203B41FA5}">
                      <a16:colId xmlns:a16="http://schemas.microsoft.com/office/drawing/2014/main" val="4127236049"/>
                    </a:ext>
                  </a:extLst>
                </a:gridCol>
                <a:gridCol w="325294">
                  <a:extLst>
                    <a:ext uri="{9D8B030D-6E8A-4147-A177-3AD203B41FA5}">
                      <a16:colId xmlns:a16="http://schemas.microsoft.com/office/drawing/2014/main" val="1455863004"/>
                    </a:ext>
                  </a:extLst>
                </a:gridCol>
              </a:tblGrid>
              <a:tr h="271586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7234915"/>
                  </a:ext>
                </a:extLst>
              </a:tr>
            </a:tbl>
          </a:graphicData>
        </a:graphic>
      </p:graphicFrame>
      <p:sp>
        <p:nvSpPr>
          <p:cNvPr id="49" name="TextBox 48">
            <a:extLst>
              <a:ext uri="{FF2B5EF4-FFF2-40B4-BE49-F238E27FC236}">
                <a16:creationId xmlns:a16="http://schemas.microsoft.com/office/drawing/2014/main" id="{4A355DD1-7A4C-EEAC-4FE2-5D02AAD0BEFD}"/>
              </a:ext>
            </a:extLst>
          </p:cNvPr>
          <p:cNvSpPr txBox="1"/>
          <p:nvPr/>
        </p:nvSpPr>
        <p:spPr>
          <a:xfrm>
            <a:off x="3434988" y="7370488"/>
            <a:ext cx="8430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predCount</a:t>
            </a:r>
            <a:endParaRPr lang="en-US" sz="12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519622D-8811-3FAC-D3DD-E10A949F6D0F}"/>
              </a:ext>
            </a:extLst>
          </p:cNvPr>
          <p:cNvSpPr txBox="1"/>
          <p:nvPr/>
        </p:nvSpPr>
        <p:spPr>
          <a:xfrm>
            <a:off x="3457146" y="7781123"/>
            <a:ext cx="9122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topologicalOrder</a:t>
            </a:r>
            <a:endParaRPr lang="en-US" sz="1200" dirty="0"/>
          </a:p>
        </p:txBody>
      </p:sp>
      <p:graphicFrame>
        <p:nvGraphicFramePr>
          <p:cNvPr id="51" name="Table 50">
            <a:extLst>
              <a:ext uri="{FF2B5EF4-FFF2-40B4-BE49-F238E27FC236}">
                <a16:creationId xmlns:a16="http://schemas.microsoft.com/office/drawing/2014/main" id="{34C61294-EAA7-E7C9-3C7D-BB39D1E51A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467236"/>
              </p:ext>
            </p:extLst>
          </p:nvPr>
        </p:nvGraphicFramePr>
        <p:xfrm>
          <a:off x="4305216" y="7781123"/>
          <a:ext cx="2523777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6081">
                  <a:extLst>
                    <a:ext uri="{9D8B030D-6E8A-4147-A177-3AD203B41FA5}">
                      <a16:colId xmlns:a16="http://schemas.microsoft.com/office/drawing/2014/main" val="2204751709"/>
                    </a:ext>
                  </a:extLst>
                </a:gridCol>
                <a:gridCol w="283040">
                  <a:extLst>
                    <a:ext uri="{9D8B030D-6E8A-4147-A177-3AD203B41FA5}">
                      <a16:colId xmlns:a16="http://schemas.microsoft.com/office/drawing/2014/main" val="2902808483"/>
                    </a:ext>
                  </a:extLst>
                </a:gridCol>
                <a:gridCol w="241832">
                  <a:extLst>
                    <a:ext uri="{9D8B030D-6E8A-4147-A177-3AD203B41FA5}">
                      <a16:colId xmlns:a16="http://schemas.microsoft.com/office/drawing/2014/main" val="4035983872"/>
                    </a:ext>
                  </a:extLst>
                </a:gridCol>
                <a:gridCol w="241832">
                  <a:extLst>
                    <a:ext uri="{9D8B030D-6E8A-4147-A177-3AD203B41FA5}">
                      <a16:colId xmlns:a16="http://schemas.microsoft.com/office/drawing/2014/main" val="862770784"/>
                    </a:ext>
                  </a:extLst>
                </a:gridCol>
                <a:gridCol w="241832">
                  <a:extLst>
                    <a:ext uri="{9D8B030D-6E8A-4147-A177-3AD203B41FA5}">
                      <a16:colId xmlns:a16="http://schemas.microsoft.com/office/drawing/2014/main" val="2586353873"/>
                    </a:ext>
                  </a:extLst>
                </a:gridCol>
                <a:gridCol w="241832">
                  <a:extLst>
                    <a:ext uri="{9D8B030D-6E8A-4147-A177-3AD203B41FA5}">
                      <a16:colId xmlns:a16="http://schemas.microsoft.com/office/drawing/2014/main" val="918255752"/>
                    </a:ext>
                  </a:extLst>
                </a:gridCol>
                <a:gridCol w="241832">
                  <a:extLst>
                    <a:ext uri="{9D8B030D-6E8A-4147-A177-3AD203B41FA5}">
                      <a16:colId xmlns:a16="http://schemas.microsoft.com/office/drawing/2014/main" val="770663840"/>
                    </a:ext>
                  </a:extLst>
                </a:gridCol>
                <a:gridCol w="241832">
                  <a:extLst>
                    <a:ext uri="{9D8B030D-6E8A-4147-A177-3AD203B41FA5}">
                      <a16:colId xmlns:a16="http://schemas.microsoft.com/office/drawing/2014/main" val="2998568997"/>
                    </a:ext>
                  </a:extLst>
                </a:gridCol>
                <a:gridCol w="241832">
                  <a:extLst>
                    <a:ext uri="{9D8B030D-6E8A-4147-A177-3AD203B41FA5}">
                      <a16:colId xmlns:a16="http://schemas.microsoft.com/office/drawing/2014/main" val="4127236049"/>
                    </a:ext>
                  </a:extLst>
                </a:gridCol>
                <a:gridCol w="241832">
                  <a:extLst>
                    <a:ext uri="{9D8B030D-6E8A-4147-A177-3AD203B41FA5}">
                      <a16:colId xmlns:a16="http://schemas.microsoft.com/office/drawing/2014/main" val="1455863004"/>
                    </a:ext>
                  </a:extLst>
                </a:gridCol>
              </a:tblGrid>
              <a:tr h="198881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7234915"/>
                  </a:ext>
                </a:extLst>
              </a:tr>
            </a:tbl>
          </a:graphicData>
        </a:graphic>
      </p:graphicFrame>
      <p:sp>
        <p:nvSpPr>
          <p:cNvPr id="52" name="TextBox 51">
            <a:extLst>
              <a:ext uri="{FF2B5EF4-FFF2-40B4-BE49-F238E27FC236}">
                <a16:creationId xmlns:a16="http://schemas.microsoft.com/office/drawing/2014/main" id="{E20D5D4B-5820-7B9E-EDCB-022C1162050E}"/>
              </a:ext>
            </a:extLst>
          </p:cNvPr>
          <p:cNvSpPr txBox="1"/>
          <p:nvPr/>
        </p:nvSpPr>
        <p:spPr>
          <a:xfrm>
            <a:off x="3564741" y="8256088"/>
            <a:ext cx="3042564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Queue: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4" descr="08">
            <a:extLst>
              <a:ext uri="{FF2B5EF4-FFF2-40B4-BE49-F238E27FC236}">
                <a16:creationId xmlns:a16="http://schemas.microsoft.com/office/drawing/2014/main" id="{9FE784F9-D9A7-4F7B-AD49-6C3E9EEF28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219200"/>
            <a:ext cx="571500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7" name="Rectangle 5">
            <a:extLst>
              <a:ext uri="{FF2B5EF4-FFF2-40B4-BE49-F238E27FC236}">
                <a16:creationId xmlns:a16="http://schemas.microsoft.com/office/drawing/2014/main" id="{FF2496EF-C9B8-49EF-A543-7502752ACE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609600"/>
            <a:ext cx="5416868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350" dirty="0"/>
              <a:t>10. List the nodes of the graph in a breadth first topological ordering.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812CB4-811A-E6A7-C827-94D9BF27CDA2}"/>
              </a:ext>
            </a:extLst>
          </p:cNvPr>
          <p:cNvSpPr txBox="1"/>
          <p:nvPr/>
        </p:nvSpPr>
        <p:spPr>
          <a:xfrm>
            <a:off x="304800" y="3962400"/>
            <a:ext cx="457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Breadth First Topological Order-</a:t>
            </a:r>
            <a:br>
              <a:rPr lang="en-US" sz="1600" dirty="0"/>
            </a:br>
            <a:endParaRPr lang="en-US" sz="1600" dirty="0"/>
          </a:p>
          <a:p>
            <a:r>
              <a:rPr lang="en-US" sz="1600" dirty="0"/>
              <a:t>Start </a:t>
            </a:r>
          </a:p>
          <a:p>
            <a:r>
              <a:rPr lang="en-US" sz="1600" dirty="0"/>
              <a:t>Discrete Math </a:t>
            </a:r>
          </a:p>
          <a:p>
            <a:r>
              <a:rPr lang="en-US" sz="1600" dirty="0"/>
              <a:t>Programming 1 </a:t>
            </a:r>
          </a:p>
          <a:p>
            <a:r>
              <a:rPr lang="en-US" sz="1600" dirty="0"/>
              <a:t>Programming 2</a:t>
            </a:r>
          </a:p>
          <a:p>
            <a:r>
              <a:rPr lang="en-US" sz="1600" dirty="0"/>
              <a:t>Computer Organization</a:t>
            </a:r>
          </a:p>
          <a:p>
            <a:r>
              <a:rPr lang="en-US" sz="1600" dirty="0"/>
              <a:t>Algorithms</a:t>
            </a:r>
          </a:p>
          <a:p>
            <a:r>
              <a:rPr lang="en-US" sz="1600" dirty="0"/>
              <a:t>High-Level-Languages</a:t>
            </a:r>
          </a:p>
          <a:p>
            <a:r>
              <a:rPr lang="en-US" sz="1600" dirty="0"/>
              <a:t>Operating System</a:t>
            </a:r>
          </a:p>
          <a:p>
            <a:r>
              <a:rPr lang="en-US" sz="1600" dirty="0"/>
              <a:t>Theory Of </a:t>
            </a:r>
            <a:r>
              <a:rPr lang="en-US" sz="1600" dirty="0" err="1"/>
              <a:t>Compuation</a:t>
            </a:r>
            <a:endParaRPr lang="en-US" sz="1600" dirty="0"/>
          </a:p>
          <a:p>
            <a:r>
              <a:rPr lang="en-US" sz="1600" dirty="0"/>
              <a:t>Compilers</a:t>
            </a:r>
          </a:p>
          <a:p>
            <a:r>
              <a:rPr lang="en-US" sz="1600" dirty="0"/>
              <a:t>Senior Seminar</a:t>
            </a:r>
          </a:p>
          <a:p>
            <a:r>
              <a:rPr lang="en-US" sz="1600" dirty="0"/>
              <a:t>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514</TotalTime>
  <Words>1688</Words>
  <Application>Microsoft Office PowerPoint</Application>
  <PresentationFormat>On-screen Show (4:3)</PresentationFormat>
  <Paragraphs>431</Paragraphs>
  <Slides>9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Times New Roman</vt:lpstr>
      <vt:lpstr>Wingdings</vt:lpstr>
      <vt:lpstr>Default Design</vt:lpstr>
      <vt:lpstr>Microsoft Word 97 - 2003 Document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Joe Wisniewski</dc:creator>
  <cp:lastModifiedBy>Tatarian, Antranig</cp:lastModifiedBy>
  <cp:revision>30</cp:revision>
  <cp:lastPrinted>2018-11-12T14:09:18Z</cp:lastPrinted>
  <dcterms:created xsi:type="dcterms:W3CDTF">2003-11-20T06:12:01Z</dcterms:created>
  <dcterms:modified xsi:type="dcterms:W3CDTF">2025-11-18T04:34:15Z</dcterms:modified>
</cp:coreProperties>
</file>